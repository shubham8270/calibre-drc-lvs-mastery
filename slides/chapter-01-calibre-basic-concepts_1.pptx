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89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USING DRC/LVS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Basic Concepts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486400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 to Calibre Physical Verification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 is Calibre?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IC Design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SVRF Files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Calibre Interactive GUI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RVE Results Viewer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4389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Online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— Calibre Basic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7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29844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Calibre physical verification fits into an IC design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14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7A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53288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overall Calibre physical verification process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490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376732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various types of SVRF files used by Calibre physical verification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2801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3248" y="129844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important attributes of the SVRF language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514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7A8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13248" y="253288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Calibre Interactive GUI and how to run DRC/LVS jobs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490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7A8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13248" y="376732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interpret results using Calibre RVE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Calibre?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Physical Verification Tool by Siemens EDA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is used to verify that an IC layout is correct before fabrication. It performs two core tasks: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0D7A8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3931920" cy="50292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— Design Rule Checking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the physical layout follows the </a:t>
            </a: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rules</a:t>
            </a: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by the foundry.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Metal lines too close together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 too small for manufacturing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Spacing violations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F4A62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00200"/>
            <a:ext cx="3931920" cy="50292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 — Layout vs. Schematic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layout against the original </a:t>
            </a: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schematic</a:t>
            </a: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ensure they match electrically.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connections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transistor sizes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circuits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BF5FB"/>
          </a:solidFill>
          <a:ln w="1905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05072"/>
            <a:ext cx="8138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Simple Rule:   DRC = "Is the layout manufacturable?"     |     LVS = "Does the layout match the design intent?"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Calibre Tool Suite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is a family of tools — not just one program</a:t>
            </a:r>
            <a:endParaRPr lang="en-US" sz="1300" dirty="0"/>
          </a:p>
        </p:txBody>
      </p:sp>
      <p:pic>
        <p:nvPicPr>
          <p:cNvPr id="5" name="Image 0" descr="/home/claude/ch01-diagram-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Tools — Quick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tool does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7490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8A"/>
                          </a:solidFill>
                        </a:rPr>
                        <a:t>Calibre nmDRC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Runs Design Rule Checks on the layout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8A"/>
                          </a:solidFill>
                        </a:rPr>
                        <a:t>Calibre nmLVS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Runs Layout vs. Schematic verification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8A"/>
                          </a:solidFill>
                        </a:rPr>
                        <a:t>Calibre RVE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Results Viewing Environment — view verification results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8A"/>
                          </a:solidFill>
                        </a:rPr>
                        <a:t>Calibre Interactive™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GUI frontend to set up and run Calibre jobs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8A"/>
                          </a:solidFill>
                        </a:rPr>
                        <a:t>Calibre DESIGNrev™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Layout viewer — open and inspect GDS files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</a:rPr>
                        <a:t>Calibre PEX tools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Parasitic Extraction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</a:rPr>
                        <a:t>Calibre MDP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Mask Data Preparation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D3D"/>
                          </a:solidFill>
                        </a:rPr>
                        <a:t>Calibre DFM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Design for Manufacturability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83280" y="11430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nmDRC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Design Rule Checks on the layout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1874520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nmLVS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19293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Layout vs. Schematic verification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26771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RVE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23225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Viewing Environment — view verification results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2660904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715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Interactive™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715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frontend to set up and run Calibre jobs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3054096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DESIGNrev™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viewer — open and inspect GDS files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447288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PEX tools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83280" y="3502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Parasitic Extraction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384048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MDP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0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Data Preparation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65760" y="4233672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288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DFM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383280" y="4288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Manufacturability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473659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labs, Calibre DESIGNrev is used for layout viewing — it is the entry point to launch Calibre Interactive.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Design Flow — Where Does Calibre Fit?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verification is the final gate before tape-out</a:t>
            </a:r>
            <a:endParaRPr lang="en-US" sz="1300" dirty="0"/>
          </a:p>
        </p:txBody>
      </p:sp>
      <p:pic>
        <p:nvPicPr>
          <p:cNvPr id="5" name="Image 0" descr="/home/claude/ch01-diagram-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43891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097280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1280160"/>
            <a:ext cx="411480" cy="411480"/>
          </a:xfrm>
          <a:prstGeom prst="ellipse">
            <a:avLst/>
          </a:prstGeom>
          <a:solidFill>
            <a:srgbClr val="5A6A7A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2356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schematic generates a netlist (components + connections)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0" y="2057400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2240280"/>
            <a:ext cx="411480" cy="411480"/>
          </a:xfrm>
          <a:prstGeom prst="ellipse">
            <a:avLst/>
          </a:prstGeom>
          <a:solidFill>
            <a:srgbClr val="5A6A7A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2356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23560" y="2404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 is simulated to verify electrical behavior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0" y="3017520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3200400"/>
            <a:ext cx="411480" cy="411480"/>
          </a:xfrm>
          <a:prstGeom prst="ellipse">
            <a:avLst/>
          </a:prstGeom>
          <a:solidFill>
            <a:srgbClr val="5A6A7A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2356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23560" y="3364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translated to physical shapes via automated or custom editing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0" y="3977640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E8F4F6"/>
          </a:solidFill>
          <a:ln w="25400">
            <a:solidFill>
              <a:srgbClr val="0D7A8A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120640" y="4160520"/>
            <a:ext cx="411480" cy="411480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2356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Verification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23560" y="43251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+ LVS checks. Errors → fix layout → re-run (iterative loop)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Calibre Process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foundry, user, and tools connect together</a:t>
            </a:r>
            <a:endParaRPr lang="en-US" sz="1300" dirty="0"/>
          </a:p>
        </p:txBody>
      </p:sp>
      <p:pic>
        <p:nvPicPr>
          <p:cNvPr id="5" name="Image 0" descr="/home/claude/ch01-diagram-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1772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 w="1905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90872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Foundry provides SVRF rule files in the PDK package — these contain all manufacturing rules.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4617720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FEF9E7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4690872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 NOT use '&amp;' at the end of the calibredrv command!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Calibre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commands every Calibre user must know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DRC from command line (hierarchical mode)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31920" y="106070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088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-drc -hier my_job.rules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Calibre Interactive GUI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31920" y="160934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1636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-gui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DRC GUI directly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0" y="215798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2185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-gui -drc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DRC GUI with pre-loaded runset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0" y="270662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16" name="Text 14"/>
          <p:cNvSpPr/>
          <p:nvPr/>
        </p:nvSpPr>
        <p:spPr>
          <a:xfrm>
            <a:off x="406908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-gui -drc demo_runset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layout in Calibre DESIGNrev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31920" y="325526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3282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calibredrv my_layout.gds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RVE to view DRC results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931920" y="380390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3831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-rve demo_drc.db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online documentation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31920" y="4352544"/>
            <a:ext cx="4846320" cy="347472"/>
          </a:xfrm>
          <a:prstGeom prst="roundRect">
            <a:avLst>
              <a:gd name="adj" fmla="val 13158"/>
            </a:avLst>
          </a:prstGeom>
          <a:solidFill>
            <a:srgbClr val="1E2D3D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4379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mgcdocs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FEF9E7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82312"/>
            <a:ext cx="8138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add &amp; at the end of calibredrv — it will cause DESIGNrev to malfunction!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Glossary — Key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terminology every Calibre user must know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7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SVRF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16128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Verification Rule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44475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language used by ALL Calibre applications. Think of it as Calibre's programming language.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Rule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193852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Result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22199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DRC result database output when layout data meets specified criteria defined in the rules file.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27157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299923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ASCII file containing verification results with optional properties. Output of a DRC run.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204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7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SVDB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34930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Verification Database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377647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directories and files created during a Calibre nmLVS run.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976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7A8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27024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Viewing Environment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455371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Calibre tool used to view and navigate physical verification results interactively.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SVRF?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Verification Rule Format — the language of Calibre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SVRF is the scripting language that Calibre uses for ALL its operations. It has two categories of content: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0D7A8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4572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9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— From Foundry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specific instructions:
</a:t>
            </a: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DRC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(min metal width, spacing rules...)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LVS connectivity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(device recognition)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F4A623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4023360" cy="45720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09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 — From User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084832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and user specific setup:
</a:t>
            </a: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I/O file specifications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(layout path, results path...)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User-specified job options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(output format, options...)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13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specified in SVRF (use command line instead):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type (flat/hierarchical)  •  Multiple processors  •  LVS job type  •  Extracted netlist file name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SVRF 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merges all SVRF files into one at runtime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D7A8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5943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Rule 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Foundry / PDK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Contains all technology-specific DRC and LVS rules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Provided as part of the PDK package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edited by the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55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Example: golden_rules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4A623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97280"/>
            <a:ext cx="2651760" cy="59436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SVRF 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User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828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Contains job-specific information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Layout file path and top cell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Results database file 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255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INCLUDE statements for other 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7B68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1097280"/>
            <a:ext cx="2651760" cy="59436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SVRF 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User (Optional)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1828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for specific run needs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Select/deselect specific DRC checks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Specify parallel transistor reduction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255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be reused across projects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48056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1E2D3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44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 PATH "demo.gds"    LAYOUT PRIMARY "TOP"    DRC RESULTS DATABASE "demo_drc.db" ASCII    INCLUDE "golden_rules"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DESIGNrev — Layout Viewer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for all Calibre verification work</a:t>
            </a:r>
            <a:endParaRPr lang="en-US" sz="1300" dirty="0"/>
          </a:p>
        </p:txBody>
      </p:sp>
      <p:pic>
        <p:nvPicPr>
          <p:cNvPr id="5" name="Image 0" descr="/home/claude/ch01-diagram-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4348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E2D3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45079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/path/to/layout/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calibredrv lab1.gds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44348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BF5FB"/>
          </a:solidFill>
          <a:ln w="19050">
            <a:solidFill>
              <a:srgbClr val="0D7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5079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The % symbol at terminal after launching DESIGNrev indicates it is running in tcsh shell mode.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Calibre Interactive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DESIGNrev Verification menu</a:t>
            </a:r>
            <a:endParaRPr lang="en-US" sz="1300" dirty="0"/>
          </a:p>
        </p:txBody>
      </p:sp>
      <p:pic>
        <p:nvPicPr>
          <p:cNvPr id="5" name="Image 0" descr="/home/claude/ch01-diagram-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800600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73752"/>
            <a:ext cx="8138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Choose: Verification menu → Run nmDRC... (or Run nmLVS...) — this starts Calibre Interactive for the intended job type.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Interactive Flow —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→ generates rule file → builds command → invokes Calibre nmDRC</a:t>
            </a:r>
            <a:endParaRPr lang="en-US" sz="1300" dirty="0"/>
          </a:p>
        </p:txBody>
      </p:sp>
      <p:pic>
        <p:nvPicPr>
          <p:cNvPr id="5" name="Image 0" descr="/home/claude/ch01-diagram-0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Interactive — DRC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 Runset and configuring your DRC job</a:t>
            </a:r>
            <a:endParaRPr lang="en-US" sz="1300" dirty="0"/>
          </a:p>
        </p:txBody>
      </p:sp>
      <p:pic>
        <p:nvPicPr>
          <p:cNvPr id="5" name="Image 0" descr="/home/claude/ch01-diagram-0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634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1E2D3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4736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-gui -drc demo_runset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4663440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FEF9E7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47365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Runsets with ! icon are no longer available at that path.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Interactive — Features &amp; Panels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GUI layout and workflow</a:t>
            </a:r>
            <a:endParaRPr lang="en-US" sz="1300" dirty="0"/>
          </a:p>
        </p:txBody>
      </p:sp>
      <p:pic>
        <p:nvPicPr>
          <p:cNvPr id="5" name="Image 0" descr="/home/claude/ch01-diagram-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800600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FEF9E7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73752"/>
            <a:ext cx="8138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 ! (exclamation) button next to a field means an incorrect entry or a file that does not exist — always fix before running!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Results in Calibre RVE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Viewing Environment — navigate DRC/LVS errors</a:t>
            </a:r>
            <a:endParaRPr lang="en-US" sz="1300" dirty="0"/>
          </a:p>
        </p:txBody>
      </p:sp>
      <p:pic>
        <p:nvPicPr>
          <p:cNvPr id="5" name="Image 0" descr="/home/claude/ch01-diagram-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Check/Cell Summary Tree — all checks + error counts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Results List — individual error instances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Results Details — coordinates and geometry of each error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Toolbar in Calibre Interactive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find any setting using Ctrl+F</a:t>
            </a:r>
            <a:endParaRPr lang="en-US" sz="1300" dirty="0"/>
          </a:p>
        </p:txBody>
      </p:sp>
      <p:pic>
        <p:nvPicPr>
          <p:cNvPr id="5" name="Image 0" descr="/home/claude/ch01-diagram-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7365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Press Ctrl+F or click the top-right Search field. Type any runset option name to jump directly to that control.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Online Documentation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 + Siemens Support Center</a:t>
            </a:r>
            <a:endParaRPr lang="en-US" sz="1300" dirty="0"/>
          </a:p>
        </p:txBody>
      </p:sp>
      <p:pic>
        <p:nvPicPr>
          <p:cNvPr id="5" name="Image 0" descr="/home/claude/ch01-diagram-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45720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09728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5780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 Help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57800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Line: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57800" y="1920240"/>
            <a:ext cx="3200400" cy="310896"/>
          </a:xfrm>
          <a:prstGeom prst="roundRect">
            <a:avLst>
              <a:gd name="adj" fmla="val 14706"/>
            </a:avLst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47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mgcdocs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5780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GUI: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57800" y="2743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→ Help and Manuals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Center: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257800" y="3566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support.sw.siemens.com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0" y="4160520"/>
            <a:ext cx="3657600" cy="256032"/>
          </a:xfrm>
          <a:prstGeom prst="roundRect">
            <a:avLst>
              <a:gd name="adj" fmla="val 28571"/>
            </a:avLst>
          </a:prstGeom>
          <a:solidFill>
            <a:srgbClr val="EBF5FB"/>
          </a:solidFill>
          <a:ln w="19050">
            <a:solidFill>
              <a:srgbClr val="0D7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4233672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InfoHub provides locally installed docs searchable by scope.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Virtuoso Integration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Calibre from within Cadence Virtuoso</a:t>
            </a:r>
            <a:endParaRPr lang="en-US" sz="1300" dirty="0"/>
          </a:p>
        </p:txBody>
      </p:sp>
      <p:pic>
        <p:nvPicPr>
          <p:cNvPr id="5" name="Image 0" descr="/home/claude/ch01-diagram-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78231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Enable 'Export from layout viewer' in Calibre Interactive Inputs panel to auto-stream layout from Virtuoso instead of using a static GDS file.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—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Calibre Basic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61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16128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DRC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4996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layout against foundry manufacturing rules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837944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92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LVS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18928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layout to original schematic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286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language used by ALL Calibre applications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624328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SVRF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34640" y="26791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foundry — contains technology rules, never edit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72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SVRF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30723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— specifies files, paths, and job options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410712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34655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GUI settings for reuse across sessions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803904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34640" y="3858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to view, navigate, and debug DRC/LVS results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197096"/>
            <a:ext cx="8412480" cy="38404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DESIGNrev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834640" y="4251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viewer — entry point to launch Calibre Interactive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InfoHub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834640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documentation portal (also: mgcdocs command)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Complete!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Basic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4572000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02 — Calibre nmDRC Basics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Microsoft Office PowerPoint</Application>
  <PresentationFormat>On-screen Show (16:9)</PresentationFormat>
  <Paragraphs>258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Calibre Basic Concepts - Chapter 01</dc:title>
  <dc:subject>PptxGenJS Presentation</dc:subject>
  <dc:creator>PptxGenJS</dc:creator>
  <cp:lastModifiedBy>shubham kumar jha</cp:lastModifiedBy>
  <cp:revision>1</cp:revision>
  <dcterms:created xsi:type="dcterms:W3CDTF">2026-06-11T20:54:47Z</dcterms:created>
  <dcterms:modified xsi:type="dcterms:W3CDTF">2026-06-12T17:06:30Z</dcterms:modified>
</cp:coreProperties>
</file>