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0D2540"/>
          </a:solidFill>
          <a:ln w="12700">
            <a:solidFill>
              <a:srgbClr val="0D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916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64592" cy="164592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640080"/>
            <a:ext cx="164592" cy="164592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640080"/>
            <a:ext cx="164592" cy="164592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640080"/>
            <a:ext cx="164592" cy="164592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640080"/>
            <a:ext cx="164592" cy="164592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640080"/>
            <a:ext cx="164592" cy="164592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Rule Checks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Antenna Rule Basics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Calibre nmDRC/nmLVS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5214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antenna theory basics — what causes the antenna effect and why it matters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0391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2082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Calibre to identify antenna problems using NET AREA RATIO rules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90779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8950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ERC (Electrical Rule Checks) during an LVS run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77647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581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geometric output files (GDSII/OASIS) from a Calibre nmDRC run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Rule Checks (ERC)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4F8F9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ERC Can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08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nets have a path to ground (including through devices)?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40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nets do NOT have a path to power or ground?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71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PMOS devices are connected to VCC through PSD?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4F8F9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ERC Requires LVS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connectivity extraction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48072" y="1764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 which shapes form which nets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37744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through devices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48072" y="2569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follow nets through transistors &amp; resistors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18211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LVS job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48072" y="33741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 already extracts connectivity — ERC reuses 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≠ DRC:  ERC asks "Is my circuit connected correctly?" — not just "Do my shapes follow geometric rules?"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Calibre ERC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PATHCHK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nets in the layout that do, or do not, have a path to power, ground, or labeled nets — or any combination of these conditions.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LAYER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a layer containing all device seed shapes from all device instances of a named type (e.g., all NMOS gate shapes).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SVRF Statements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8503920" cy="1417320"/>
          </a:xfrm>
          <a:prstGeom prst="roundRect">
            <a:avLst>
              <a:gd name="adj" fmla="val 451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0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RESULTS 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6301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result_file         // File where ERC results are written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14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SELECT CHECK  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40142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rule_check ...      // Which ERC checks to execute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SUMMARY REPORT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4398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report_file         // Human-readable run summary (optional)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results are viewed using RVE — exactly like DRC results.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ERC Workflow — 6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1615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Output Info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RESULTS DATABASE  result_file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0515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1615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3048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Checks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1764792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8013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SELECT CHECK  rule_name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0515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21615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1696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Checks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08776" y="1764792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8013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UNSELECT CHECK  rule_name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1821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Result Count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730752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673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MAXIMUM RESULTS  50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72968" y="3017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1821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13048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Job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10128" y="3730752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7673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-spice … -hier rule_file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71616" y="3017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31821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11696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 RVE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08776" y="3730752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37673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ERC Results tab in RVE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ERC: Output Info &amp; Check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Specify Output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1645920"/>
          </a:xfrm>
          <a:prstGeom prst="roundRect">
            <a:avLst>
              <a:gd name="adj" fmla="val 3889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RESULTS DATABASE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0" y="14813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lab5a.erc.results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SUMMARY REPORT 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19568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lab5a.erc.summary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LVS EXECUTE ERC    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43230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SUMMARY REPORT is optional but recommended.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&amp; 3 — Select / Unselect Checks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630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Enable a check: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7099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SELECT CHECK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9568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erc_rule_metal1_no_power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2037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4505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Disable a check: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UNSELECT CHECK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9443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erc_rule_metal2_no_power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default: NO checks are executed in LVS.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SELECT CHECK builds the list; UNSELECT removes from 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611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Limit Result Count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731520"/>
          </a:xfrm>
          <a:prstGeom prst="roundRect">
            <a:avLst>
              <a:gd name="adj" fmla="val 8750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50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MAXIMUM RESULTS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0507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       // Stops writing after 50 results per check.  Default = 1000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the ERC Job &amp; View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Execute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Command line: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-spice "alu.sp" \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-hier my_rules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with explicit LVS flag: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calibre -spice … -lvs … rule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LVS EXECUTE ERC YES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337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runs during LVS extraction phase.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"LVS EXECUTE ERC YES" is optional — ERC runs by default once checks are selected.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View in RVE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4F8F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Results tab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checks with violation counts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2258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Summary tab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log with layer statistics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3008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highlight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32826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result → highlights shapes in viewer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Geometric Output From Calibre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instruct Calibre to write DRC results to a GDSII or OASIS file using DRC CHECK MAP: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DRC CHECK 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5087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rule_check  [GDSII|OASIS]  layer  datatype  filename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Grow metal1 by 0.1u and save as GDS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8503920" cy="960120"/>
          </a:xfrm>
          <a:prstGeom prst="roundRect">
            <a:avLst>
              <a:gd name="adj" fmla="val 5714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Grow_Metal1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606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{@ SIZE metal1 BY 0.1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083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DRC CHECK 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300837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Grow_Metal1  GDSII  21  0  "./mask/grown_m1.gds"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566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Output all metal shapes on net "RESET" as GDS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86200"/>
            <a:ext cx="8503920" cy="1078992"/>
          </a:xfrm>
          <a:prstGeom prst="roundRect">
            <a:avLst>
              <a:gd name="adj" fmla="val 5085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m_123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977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metal1 metal2 metal3    // Define combined layer 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06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Plot_RESET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4306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{@ NET m_123 RESET 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36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DRC CHECK 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46360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Plot_RESET  GDSII  1  0  "./plots/RESET.gds"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Antenna?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4F8F9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Antenna Effect Happens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274320" cy="274320"/>
          </a:xfrm>
          <a:prstGeom prst="ellipse">
            <a:avLst/>
          </a:prstGeom>
          <a:solidFill>
            <a:srgbClr val="E8440A"/>
          </a:solidFill>
          <a:ln w="12700">
            <a:solidFill>
              <a:srgbClr val="E84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builds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plasma etching, metal/poly interconnect paths collect electrical charge — acting like antennas.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15184"/>
            <a:ext cx="274320" cy="274320"/>
          </a:xfrm>
          <a:prstGeom prst="ellipse">
            <a:avLst/>
          </a:prstGeom>
          <a:solidFill>
            <a:srgbClr val="E8440A"/>
          </a:solidFill>
          <a:ln w="12700">
            <a:solidFill>
              <a:srgbClr val="E844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seeks ground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907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charge accumulations find a path to ground through the gate region.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694176"/>
            <a:ext cx="274320" cy="274320"/>
          </a:xfrm>
          <a:prstGeom prst="ellipse">
            <a:avLst/>
          </a:prstGeom>
          <a:solidFill>
            <a:srgbClr val="E8440A"/>
          </a:solidFill>
          <a:ln w="12700">
            <a:solidFill>
              <a:srgbClr val="E84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oxide damaged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98678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arcs from poly through the thin gate oxide to the well — destroying the transistor gate permanently.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87552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4F8F9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Effect — Schematic 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828800"/>
            <a:ext cx="3017520" cy="201168"/>
          </a:xfrm>
          <a:prstGeom prst="rect">
            <a:avLst/>
          </a:prstGeom>
          <a:solidFill>
            <a:srgbClr val="D44000">
              <a:alpha val="80000"/>
            </a:srgbClr>
          </a:solidFill>
          <a:ln w="12700">
            <a:solidFill>
              <a:srgbClr val="D44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4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(long metal wire)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2029968"/>
            <a:ext cx="365760" cy="411480"/>
          </a:xfrm>
          <a:prstGeom prst="rect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2029968"/>
            <a:ext cx="365760" cy="411480"/>
          </a:xfrm>
          <a:prstGeom prst="rect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606040"/>
            <a:ext cx="3017520" cy="365760"/>
          </a:xfrm>
          <a:prstGeom prst="rect">
            <a:avLst/>
          </a:prstGeom>
          <a:solidFill>
            <a:srgbClr val="C8E6C9"/>
          </a:solidFill>
          <a:ln w="19050">
            <a:solidFill>
              <a:srgbClr val="228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24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gate destroyed!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3611880"/>
            <a:ext cx="4206240" cy="1143000"/>
          </a:xfrm>
          <a:prstGeom prst="roundRect">
            <a:avLst>
              <a:gd name="adj" fmla="val 5600"/>
            </a:avLst>
          </a:prstGeom>
          <a:solidFill>
            <a:srgbClr val="FFF3CD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03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Cannot be repaired after fabrication.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violations = dead chips = yield loss.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caught before tape-out!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Antenna Rule Basics &amp; Net Area Ratio (NAR)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Area Ratio (NAR)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  =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Antenna Area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0" y="1737360"/>
            <a:ext cx="2468880" cy="36576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8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Area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NAR → more charge risk → higher damage probability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rules flag nets where NAR exceeds the foundry limit.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87552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78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SVRF Syntax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AREA RATIO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metal1 metal2 poly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 20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2523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25237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"antenna.rdb"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871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metal1 metal2 poly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1325880"/>
          </a:xfrm>
          <a:prstGeom prst="roundRect">
            <a:avLst>
              <a:gd name="adj" fmla="val 4828"/>
            </a:avLst>
          </a:prstGeom>
          <a:solidFill>
            <a:srgbClr val="F4F8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6732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21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antenna_layers — interconnect layers that accumulate charge (metal1, metal2, poly)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767328"/>
            <a:ext cx="137160" cy="137160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21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gate_layer — the layer defining gate area (the denominator)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88536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ratio_limit — foundry-specified maximum allowed NAR (e.g., 20)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4288536"/>
            <a:ext cx="137160" cy="137160"/>
          </a:xfrm>
          <a:prstGeom prst="ellipse">
            <a:avLst/>
          </a:prstGeom>
          <a:solidFill>
            <a:srgbClr val="E8440A"/>
          </a:solidFill>
          <a:ln w="12700">
            <a:solidFill>
              <a:srgbClr val="E844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keyword — outputs ALL listed layers to the results DB, not just the first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Antenna Considerations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interconnect layers are added during fabrication, antenna nets grow and gate areas change: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4F8F9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8346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metal1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⬛⬛⬛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antennas, 2 gates each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MET1a, MET1b, MET1c are separate nets — each connects to only 2 gates.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4630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4F8F9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463040"/>
            <a:ext cx="28346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9272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⬛⬛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19272" y="260604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antennas: 1×2 gates, 1×4 gates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32004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Metal2 bridges some segments together, merging nets. Gate count changes.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14630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4F8F9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463040"/>
            <a:ext cx="28346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metal3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⬛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2784" y="260604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antenna, 6 gates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504" y="32004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Metal3 connects all segments into a single net spanning all 6 gates.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Adding metal layers can REDUCE antenna violations by merging small antenna nets (with few gates) into larger shared nets (with more gates) — changing the NAR.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10 —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875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10241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Rule Checks — answer connectivity questions; require LVS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9875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PATHCHK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37960" y="10241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operation: reports nets with/without path to power/ground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099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LAYER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57400" y="17099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operation: derives a layer of device seed shapes by type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6733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7099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RESULTS DATABASE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17099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where ERC results are written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SELECT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23957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specific checks for ERC execution (none run by default)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591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UNSELECT CHECK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23957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checks from the execution list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449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81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 MAXIMUM RESULTS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57400" y="30815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results per check (default = 1000)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449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081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Antenna effect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0815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buildup on interconnect during fabrication damages gates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7307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7673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57400" y="37673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Area Ratio = antenna area / gate area — key antenna metric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7307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673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AREA RATIO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37673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SVRF operator that computes NAR and flags violations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416552"/>
            <a:ext cx="4251960" cy="594360"/>
          </a:xfrm>
          <a:prstGeom prst="roundRect">
            <a:avLst>
              <a:gd name="adj" fmla="val 9231"/>
            </a:avLst>
          </a:prstGeom>
          <a:solidFill>
            <a:srgbClr val="0D2540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453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DRC CHECK MAP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57400" y="44531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rule check results to GDSII or OASIS geometry files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 ·  Using Calibre nmDRC/nmLVS  ·  Chapter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— ERC &amp; Antenna Rule Basics</dc:title>
  <dc:subject>PptxGenJS Presentation</dc:subject>
  <dc:creator>PptxGenJS</dc:creator>
  <cp:lastModifiedBy>PptxGenJS</cp:lastModifiedBy>
  <cp:revision>1</cp:revision>
  <dcterms:created xsi:type="dcterms:W3CDTF">2026-06-18T19:35:05Z</dcterms:created>
  <dcterms:modified xsi:type="dcterms:W3CDTF">2026-06-18T19:35:05Z</dcterms:modified>
</cp:coreProperties>
</file>