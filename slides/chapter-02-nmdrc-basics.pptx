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iterative loop: layout + rules → nmDRC engine → results → fix → repeat until zero violations.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A896"/>
          </a:solidFill>
          <a:ln w="12700">
            <a:solidFill>
              <a:srgbClr val="00A896"/>
            </a:solidFill>
            <a:prstDash val="solid"/>
          </a:ln>
        </p:spPr>
      </p:sp>
      <p:sp>
        <p:nvSpPr>
          <p:cNvPr id="3" name="Text 1"/>
          <p:cNvSpPr/>
          <p:nvPr/>
        </p:nvSpPr>
        <p:spPr>
          <a:xfrm>
            <a:off x="411480" y="1463040"/>
            <a:ext cx="8321040" cy="128016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Chapter 02</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Calibre nmDRC Basics</a:t>
            </a:r>
            <a:endParaRPr lang="en-US" sz="4000" dirty="0"/>
          </a:p>
        </p:txBody>
      </p:sp>
      <p:sp>
        <p:nvSpPr>
          <p:cNvPr id="4" name="Text 2"/>
          <p:cNvSpPr/>
          <p:nvPr/>
        </p:nvSpPr>
        <p:spPr>
          <a:xfrm>
            <a:off x="411480" y="2926080"/>
            <a:ext cx="8321040" cy="548640"/>
          </a:xfrm>
          <a:prstGeom prst="rect">
            <a:avLst/>
          </a:prstGeom>
          <a:noFill/>
          <a:ln/>
        </p:spPr>
        <p:txBody>
          <a:bodyPr wrap="square" rtlCol="0" anchor="t"/>
          <a:lstStyle/>
          <a:p>
            <a:pPr algn="l" indent="0" marL="0">
              <a:buNone/>
            </a:pPr>
            <a:r>
              <a:rPr lang="en-US" sz="1600" dirty="0">
                <a:solidFill>
                  <a:srgbClr val="00A896"/>
                </a:solidFill>
                <a:latin typeface="Calibri" pitchFamily="34" charset="0"/>
                <a:ea typeface="Calibri" pitchFamily="34" charset="-122"/>
                <a:cs typeface="Calibri" pitchFamily="34" charset="-120"/>
              </a:rPr>
              <a:t>Set up runs · Review results · Work with RVE</a:t>
            </a:r>
            <a:endParaRPr lang="en-US" sz="1600" dirty="0"/>
          </a:p>
        </p:txBody>
      </p:sp>
      <p:sp>
        <p:nvSpPr>
          <p:cNvPr id="5" name="Text 3"/>
          <p:cNvSpPr/>
          <p:nvPr/>
        </p:nvSpPr>
        <p:spPr>
          <a:xfrm>
            <a:off x="411480" y="4572000"/>
            <a:ext cx="8321040" cy="365760"/>
          </a:xfrm>
          <a:prstGeom prst="rect">
            <a:avLst/>
          </a:prstGeom>
          <a:noFill/>
          <a:ln/>
        </p:spPr>
        <p:txBody>
          <a:bodyPr wrap="square" rtlCol="0" anchor="ctr"/>
          <a:lstStyle/>
          <a:p>
            <a:pPr algn="l" indent="0" marL="0">
              <a:buNone/>
            </a:pPr>
            <a:r>
              <a:rPr lang="en-US" sz="1100" dirty="0">
                <a:solidFill>
                  <a:srgbClr val="5C7A8A"/>
                </a:solidFill>
                <a:latin typeface="Calibri" pitchFamily="34" charset="0"/>
                <a:ea typeface="Calibri" pitchFamily="34" charset="-122"/>
                <a:cs typeface="Calibri" pitchFamily="34" charset="-120"/>
              </a:rPr>
              <a:t>Using Calibre nmDRC/nmLVS  •  Chapter 02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Chapter Overview</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60120"/>
            <a:ext cx="2743200" cy="3749040"/>
          </a:xfrm>
          <a:prstGeom prst="roundRect">
            <a:avLst>
              <a:gd name="adj" fmla="val 3333"/>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57200" y="1051560"/>
            <a:ext cx="2468880" cy="320040"/>
          </a:xfrm>
          <a:prstGeom prst="rect">
            <a:avLst/>
          </a:prstGeom>
          <a:noFill/>
          <a:ln/>
        </p:spPr>
        <p:txBody>
          <a:bodyPr wrap="square" rtlCol="0" anchor="ctr"/>
          <a:lstStyle/>
          <a:p>
            <a:pPr indent="0" marL="0">
              <a:buNone/>
            </a:pPr>
            <a:r>
              <a:rPr lang="en-US" sz="1000" b="1" spc="300" kern="0" dirty="0">
                <a:solidFill>
                  <a:srgbClr val="00A896"/>
                </a:solidFill>
                <a:latin typeface="Calibri" pitchFamily="34" charset="0"/>
                <a:ea typeface="Calibri" pitchFamily="34" charset="-122"/>
                <a:cs typeface="Calibri" pitchFamily="34" charset="-120"/>
              </a:rPr>
              <a:t>PART 01</a:t>
            </a:r>
            <a:endParaRPr lang="en-US" sz="1000" dirty="0"/>
          </a:p>
        </p:txBody>
      </p:sp>
      <p:sp>
        <p:nvSpPr>
          <p:cNvPr id="6" name="Text 4"/>
          <p:cNvSpPr/>
          <p:nvPr/>
        </p:nvSpPr>
        <p:spPr>
          <a:xfrm>
            <a:off x="457200" y="1389888"/>
            <a:ext cx="2468880" cy="502920"/>
          </a:xfrm>
          <a:prstGeom prst="rect">
            <a:avLst/>
          </a:prstGeom>
          <a:noFill/>
          <a:ln/>
        </p:spPr>
        <p:txBody>
          <a:bodyPr wrap="square" rtlCol="0" anchor="ctr"/>
          <a:lstStyle/>
          <a:p>
            <a:pPr indent="0" marL="0">
              <a:buNone/>
            </a:pPr>
            <a:r>
              <a:rPr lang="en-US" sz="1300" b="1" dirty="0">
                <a:solidFill>
                  <a:srgbClr val="1A2B3C"/>
                </a:solidFill>
                <a:latin typeface="Cambria" pitchFamily="34" charset="0"/>
                <a:ea typeface="Cambria" pitchFamily="34" charset="-122"/>
                <a:cs typeface="Cambria" pitchFamily="34" charset="-120"/>
              </a:rPr>
              <a:t>Set Up an nmDRC Run</a:t>
            </a:r>
            <a:endParaRPr lang="en-US" sz="1300" dirty="0"/>
          </a:p>
        </p:txBody>
      </p:sp>
      <p:sp>
        <p:nvSpPr>
          <p:cNvPr id="7" name="Text 5"/>
          <p:cNvSpPr/>
          <p:nvPr/>
        </p:nvSpPr>
        <p:spPr>
          <a:xfrm>
            <a:off x="457200" y="1965960"/>
            <a:ext cx="2468880" cy="2560320"/>
          </a:xfrm>
          <a:prstGeom prst="rect">
            <a:avLst/>
          </a:prstGeom>
          <a:noFill/>
          <a:ln/>
        </p:spPr>
        <p:txBody>
          <a:bodyPr wrap="square" rtlCol="0" anchor="t"/>
          <a:lstStyle/>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Specify rule files</a:t>
            </a:r>
            <a:endParaRPr lang="en-US" sz="1200" dirty="0"/>
          </a:p>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Specify input &amp; output info</a:t>
            </a:r>
            <a:endParaRPr lang="en-US" sz="1200" dirty="0"/>
          </a:p>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Specify nmDRC options</a:t>
            </a:r>
            <a:endParaRPr lang="en-US" sz="1200" dirty="0"/>
          </a:p>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Execute the job</a:t>
            </a:r>
            <a:endParaRPr lang="en-US" sz="1200" dirty="0"/>
          </a:p>
        </p:txBody>
      </p:sp>
      <p:sp>
        <p:nvSpPr>
          <p:cNvPr id="8" name="Shape 6"/>
          <p:cNvSpPr/>
          <p:nvPr/>
        </p:nvSpPr>
        <p:spPr>
          <a:xfrm>
            <a:off x="3291840" y="960120"/>
            <a:ext cx="2743200" cy="3749040"/>
          </a:xfrm>
          <a:prstGeom prst="roundRect">
            <a:avLst>
              <a:gd name="adj" fmla="val 3333"/>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429000" y="1051560"/>
            <a:ext cx="2468880" cy="320040"/>
          </a:xfrm>
          <a:prstGeom prst="rect">
            <a:avLst/>
          </a:prstGeom>
          <a:noFill/>
          <a:ln/>
        </p:spPr>
        <p:txBody>
          <a:bodyPr wrap="square" rtlCol="0" anchor="ctr"/>
          <a:lstStyle/>
          <a:p>
            <a:pPr indent="0" marL="0">
              <a:buNone/>
            </a:pPr>
            <a:r>
              <a:rPr lang="en-US" sz="1000" b="1" spc="300" kern="0" dirty="0">
                <a:solidFill>
                  <a:srgbClr val="00A896"/>
                </a:solidFill>
                <a:latin typeface="Calibri" pitchFamily="34" charset="0"/>
                <a:ea typeface="Calibri" pitchFamily="34" charset="-122"/>
                <a:cs typeface="Calibri" pitchFamily="34" charset="-120"/>
              </a:rPr>
              <a:t>PART 02</a:t>
            </a:r>
            <a:endParaRPr lang="en-US" sz="1000" dirty="0"/>
          </a:p>
        </p:txBody>
      </p:sp>
      <p:sp>
        <p:nvSpPr>
          <p:cNvPr id="10" name="Text 8"/>
          <p:cNvSpPr/>
          <p:nvPr/>
        </p:nvSpPr>
        <p:spPr>
          <a:xfrm>
            <a:off x="3429000" y="1389888"/>
            <a:ext cx="2468880" cy="502920"/>
          </a:xfrm>
          <a:prstGeom prst="rect">
            <a:avLst/>
          </a:prstGeom>
          <a:noFill/>
          <a:ln/>
        </p:spPr>
        <p:txBody>
          <a:bodyPr wrap="square" rtlCol="0" anchor="ctr"/>
          <a:lstStyle/>
          <a:p>
            <a:pPr indent="0" marL="0">
              <a:buNone/>
            </a:pPr>
            <a:r>
              <a:rPr lang="en-US" sz="1300" b="1" dirty="0">
                <a:solidFill>
                  <a:srgbClr val="1A2B3C"/>
                </a:solidFill>
                <a:latin typeface="Cambria" pitchFamily="34" charset="0"/>
                <a:ea typeface="Cambria" pitchFamily="34" charset="-122"/>
                <a:cs typeface="Cambria" pitchFamily="34" charset="-120"/>
              </a:rPr>
              <a:t>DRC Output Results</a:t>
            </a:r>
            <a:endParaRPr lang="en-US" sz="1300" dirty="0"/>
          </a:p>
        </p:txBody>
      </p:sp>
      <p:sp>
        <p:nvSpPr>
          <p:cNvPr id="11" name="Text 9"/>
          <p:cNvSpPr/>
          <p:nvPr/>
        </p:nvSpPr>
        <p:spPr>
          <a:xfrm>
            <a:off x="3429000" y="1965960"/>
            <a:ext cx="2468880" cy="2560320"/>
          </a:xfrm>
          <a:prstGeom prst="rect">
            <a:avLst/>
          </a:prstGeom>
          <a:noFill/>
          <a:ln/>
        </p:spPr>
        <p:txBody>
          <a:bodyPr wrap="square" rtlCol="0" anchor="t"/>
          <a:lstStyle/>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Review run transcript</a:t>
            </a:r>
            <a:endParaRPr lang="en-US" sz="1200" dirty="0"/>
          </a:p>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Review DRC Summary Report</a:t>
            </a:r>
            <a:endParaRPr lang="en-US" sz="1200" dirty="0"/>
          </a:p>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View results in RVE</a:t>
            </a:r>
            <a:endParaRPr lang="en-US" sz="1200" dirty="0"/>
          </a:p>
        </p:txBody>
      </p:sp>
      <p:sp>
        <p:nvSpPr>
          <p:cNvPr id="12" name="Shape 10"/>
          <p:cNvSpPr/>
          <p:nvPr/>
        </p:nvSpPr>
        <p:spPr>
          <a:xfrm>
            <a:off x="6263640" y="960120"/>
            <a:ext cx="2743200" cy="3749040"/>
          </a:xfrm>
          <a:prstGeom prst="roundRect">
            <a:avLst>
              <a:gd name="adj" fmla="val 3333"/>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6400800" y="1051560"/>
            <a:ext cx="2468880" cy="320040"/>
          </a:xfrm>
          <a:prstGeom prst="rect">
            <a:avLst/>
          </a:prstGeom>
          <a:noFill/>
          <a:ln/>
        </p:spPr>
        <p:txBody>
          <a:bodyPr wrap="square" rtlCol="0" anchor="ctr"/>
          <a:lstStyle/>
          <a:p>
            <a:pPr indent="0" marL="0">
              <a:buNone/>
            </a:pPr>
            <a:r>
              <a:rPr lang="en-US" sz="1000" b="1" spc="300" kern="0" dirty="0">
                <a:solidFill>
                  <a:srgbClr val="00A896"/>
                </a:solidFill>
                <a:latin typeface="Calibri" pitchFamily="34" charset="0"/>
                <a:ea typeface="Calibri" pitchFamily="34" charset="-122"/>
                <a:cs typeface="Calibri" pitchFamily="34" charset="-120"/>
              </a:rPr>
              <a:t>PART 03</a:t>
            </a:r>
            <a:endParaRPr lang="en-US" sz="1000" dirty="0"/>
          </a:p>
        </p:txBody>
      </p:sp>
      <p:sp>
        <p:nvSpPr>
          <p:cNvPr id="14" name="Text 12"/>
          <p:cNvSpPr/>
          <p:nvPr/>
        </p:nvSpPr>
        <p:spPr>
          <a:xfrm>
            <a:off x="6400800" y="1389888"/>
            <a:ext cx="2468880" cy="502920"/>
          </a:xfrm>
          <a:prstGeom prst="rect">
            <a:avLst/>
          </a:prstGeom>
          <a:noFill/>
          <a:ln/>
        </p:spPr>
        <p:txBody>
          <a:bodyPr wrap="square" rtlCol="0" anchor="ctr"/>
          <a:lstStyle/>
          <a:p>
            <a:pPr indent="0" marL="0">
              <a:buNone/>
            </a:pPr>
            <a:r>
              <a:rPr lang="en-US" sz="1300" b="1" dirty="0">
                <a:solidFill>
                  <a:srgbClr val="1A2B3C"/>
                </a:solidFill>
                <a:latin typeface="Cambria" pitchFamily="34" charset="0"/>
                <a:ea typeface="Cambria" pitchFamily="34" charset="-122"/>
                <a:cs typeface="Cambria" pitchFamily="34" charset="-120"/>
              </a:rPr>
              <a:t>Common DRC RVE Tasks</a:t>
            </a:r>
            <a:endParaRPr lang="en-US" sz="1300" dirty="0"/>
          </a:p>
        </p:txBody>
      </p:sp>
      <p:sp>
        <p:nvSpPr>
          <p:cNvPr id="15" name="Text 13"/>
          <p:cNvSpPr/>
          <p:nvPr/>
        </p:nvSpPr>
        <p:spPr>
          <a:xfrm>
            <a:off x="6400800" y="1965960"/>
            <a:ext cx="2468880" cy="2560320"/>
          </a:xfrm>
          <a:prstGeom prst="rect">
            <a:avLst/>
          </a:prstGeom>
          <a:noFill/>
          <a:ln/>
        </p:spPr>
        <p:txBody>
          <a:bodyPr wrap="square" rtlCol="0" anchor="t"/>
          <a:lstStyle/>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Modify check/cell tree display</a:t>
            </a:r>
            <a:endParaRPr lang="en-US" sz="1200" dirty="0"/>
          </a:p>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Cross-probe to layout viewer</a:t>
            </a:r>
            <a:endParaRPr lang="en-US" sz="1200" dirty="0"/>
          </a:p>
          <a:p>
            <a:pPr marL="342900" indent="-342900">
              <a:spcAft>
                <a:spcPts val="500"/>
              </a:spcAft>
              <a:buSzPct val="100000"/>
              <a:buChar char="•"/>
            </a:pPr>
            <a:r>
              <a:rPr lang="en-US" sz="1200" dirty="0">
                <a:solidFill>
                  <a:srgbClr val="5C7A8A"/>
                </a:solidFill>
                <a:latin typeface="Calibri" pitchFamily="34" charset="0"/>
                <a:ea typeface="Calibri" pitchFamily="34" charset="-122"/>
                <a:cs typeface="Calibri" pitchFamily="34" charset="-120"/>
              </a:rPr>
              <a:t>Manage result status &amp; waivers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nmDRC Layout Verification Process Flow</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65760" y="914400"/>
            <a:ext cx="1737360" cy="777240"/>
          </a:xfrm>
          <a:prstGeom prst="roundRect">
            <a:avLst>
              <a:gd name="adj" fmla="val 9412"/>
            </a:avLst>
          </a:prstGeom>
          <a:solidFill>
            <a:srgbClr val="E8F4FF"/>
          </a:solidFill>
          <a:ln w="19050">
            <a:solidFill>
              <a:srgbClr val="4A90D9"/>
            </a:solidFill>
            <a:prstDash val="solid"/>
          </a:ln>
        </p:spPr>
      </p:sp>
      <p:sp>
        <p:nvSpPr>
          <p:cNvPr id="5" name="Text 3"/>
          <p:cNvSpPr/>
          <p:nvPr/>
        </p:nvSpPr>
        <p:spPr>
          <a:xfrm>
            <a:off x="365760" y="914400"/>
            <a:ext cx="173736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Layout</a:t>
            </a:r>
            <a:endParaRPr lang="en-US" sz="1100" dirty="0"/>
          </a:p>
          <a:p>
            <a:pPr algn="ctr" indent="0" marL="0">
              <a:buNone/>
            </a:pPr>
            <a:r>
              <a:rPr lang="en-US" sz="1100" dirty="0">
                <a:solidFill>
                  <a:srgbClr val="1A2B3C"/>
                </a:solidFill>
                <a:latin typeface="Calibri" pitchFamily="34" charset="0"/>
                <a:ea typeface="Calibri" pitchFamily="34" charset="-122"/>
                <a:cs typeface="Calibri" pitchFamily="34" charset="-120"/>
              </a:rPr>
              <a:t>(.gds file)</a:t>
            </a:r>
            <a:endParaRPr lang="en-US" sz="1100" dirty="0"/>
          </a:p>
        </p:txBody>
      </p:sp>
      <p:sp>
        <p:nvSpPr>
          <p:cNvPr id="6" name="Shape 4"/>
          <p:cNvSpPr/>
          <p:nvPr/>
        </p:nvSpPr>
        <p:spPr>
          <a:xfrm>
            <a:off x="7040880" y="914400"/>
            <a:ext cx="1737360" cy="777240"/>
          </a:xfrm>
          <a:prstGeom prst="roundRect">
            <a:avLst>
              <a:gd name="adj" fmla="val 9412"/>
            </a:avLst>
          </a:prstGeom>
          <a:solidFill>
            <a:srgbClr val="E8F4FF"/>
          </a:solidFill>
          <a:ln w="19050">
            <a:solidFill>
              <a:srgbClr val="4A90D9"/>
            </a:solidFill>
            <a:prstDash val="solid"/>
          </a:ln>
        </p:spPr>
      </p:sp>
      <p:sp>
        <p:nvSpPr>
          <p:cNvPr id="7" name="Text 5"/>
          <p:cNvSpPr/>
          <p:nvPr/>
        </p:nvSpPr>
        <p:spPr>
          <a:xfrm>
            <a:off x="7040880" y="914400"/>
            <a:ext cx="173736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Rule File</a:t>
            </a:r>
            <a:endParaRPr lang="en-US" sz="1100" dirty="0"/>
          </a:p>
          <a:p>
            <a:pPr algn="ctr" indent="0" marL="0">
              <a:buNone/>
            </a:pPr>
            <a:r>
              <a:rPr lang="en-US" sz="1100" dirty="0">
                <a:solidFill>
                  <a:srgbClr val="1A2B3C"/>
                </a:solidFill>
                <a:latin typeface="Calibri" pitchFamily="34" charset="0"/>
                <a:ea typeface="Calibri" pitchFamily="34" charset="-122"/>
                <a:cs typeface="Calibri" pitchFamily="34" charset="-120"/>
              </a:rPr>
              <a:t>(.rules)</a:t>
            </a:r>
            <a:endParaRPr lang="en-US" sz="1100" dirty="0"/>
          </a:p>
        </p:txBody>
      </p:sp>
      <p:sp>
        <p:nvSpPr>
          <p:cNvPr id="8" name="Shape 6"/>
          <p:cNvSpPr/>
          <p:nvPr/>
        </p:nvSpPr>
        <p:spPr>
          <a:xfrm>
            <a:off x="2834640" y="1417320"/>
            <a:ext cx="3474720" cy="685800"/>
          </a:xfrm>
          <a:prstGeom prst="roundRect">
            <a:avLst>
              <a:gd name="adj" fmla="val 10667"/>
            </a:avLst>
          </a:prstGeom>
          <a:solidFill>
            <a:srgbClr val="00A896"/>
          </a:solidFill>
          <a:ln w="19050">
            <a:solidFill>
              <a:srgbClr val="00A896"/>
            </a:solidFill>
            <a:prstDash val="solid"/>
          </a:ln>
        </p:spPr>
      </p:sp>
      <p:sp>
        <p:nvSpPr>
          <p:cNvPr id="9" name="Text 7"/>
          <p:cNvSpPr/>
          <p:nvPr/>
        </p:nvSpPr>
        <p:spPr>
          <a:xfrm>
            <a:off x="2834640" y="1417320"/>
            <a:ext cx="347472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Calibre nmDRC</a:t>
            </a:r>
            <a:endParaRPr lang="en-US" sz="1100" dirty="0"/>
          </a:p>
        </p:txBody>
      </p:sp>
      <p:sp>
        <p:nvSpPr>
          <p:cNvPr id="10" name="Shape 8"/>
          <p:cNvSpPr/>
          <p:nvPr/>
        </p:nvSpPr>
        <p:spPr>
          <a:xfrm>
            <a:off x="365760" y="2743200"/>
            <a:ext cx="1737360" cy="777240"/>
          </a:xfrm>
          <a:prstGeom prst="roundRect">
            <a:avLst>
              <a:gd name="adj" fmla="val 9412"/>
            </a:avLst>
          </a:prstGeom>
          <a:solidFill>
            <a:srgbClr val="FFF8E1"/>
          </a:solidFill>
          <a:ln w="19050">
            <a:solidFill>
              <a:srgbClr val="F5A623"/>
            </a:solidFill>
            <a:prstDash val="solid"/>
          </a:ln>
        </p:spPr>
      </p:sp>
      <p:sp>
        <p:nvSpPr>
          <p:cNvPr id="11" name="Text 9"/>
          <p:cNvSpPr/>
          <p:nvPr/>
        </p:nvSpPr>
        <p:spPr>
          <a:xfrm>
            <a:off x="365760" y="2743200"/>
            <a:ext cx="173736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DRC Report</a:t>
            </a:r>
            <a:endParaRPr lang="en-US" sz="1100" dirty="0"/>
          </a:p>
          <a:p>
            <a:pPr algn="ctr" indent="0" marL="0">
              <a:buNone/>
            </a:pPr>
            <a:r>
              <a:rPr lang="en-US" sz="1100" dirty="0">
                <a:solidFill>
                  <a:srgbClr val="1A2B3C"/>
                </a:solidFill>
                <a:latin typeface="Calibri" pitchFamily="34" charset="0"/>
                <a:ea typeface="Calibri" pitchFamily="34" charset="-122"/>
                <a:cs typeface="Calibri" pitchFamily="34" charset="-120"/>
              </a:rPr>
              <a:t>(optional)</a:t>
            </a:r>
            <a:endParaRPr lang="en-US" sz="1100" dirty="0"/>
          </a:p>
        </p:txBody>
      </p:sp>
      <p:sp>
        <p:nvSpPr>
          <p:cNvPr id="12" name="Shape 10"/>
          <p:cNvSpPr/>
          <p:nvPr/>
        </p:nvSpPr>
        <p:spPr>
          <a:xfrm>
            <a:off x="7040880" y="2743200"/>
            <a:ext cx="1737360" cy="777240"/>
          </a:xfrm>
          <a:prstGeom prst="roundRect">
            <a:avLst>
              <a:gd name="adj" fmla="val 9412"/>
            </a:avLst>
          </a:prstGeom>
          <a:solidFill>
            <a:srgbClr val="E8F4FF"/>
          </a:solidFill>
          <a:ln w="19050">
            <a:solidFill>
              <a:srgbClr val="4A90D9"/>
            </a:solidFill>
            <a:prstDash val="solid"/>
          </a:ln>
        </p:spPr>
      </p:sp>
      <p:sp>
        <p:nvSpPr>
          <p:cNvPr id="13" name="Text 11"/>
          <p:cNvSpPr/>
          <p:nvPr/>
        </p:nvSpPr>
        <p:spPr>
          <a:xfrm>
            <a:off x="7040880" y="2743200"/>
            <a:ext cx="173736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DRC Results</a:t>
            </a:r>
            <a:endParaRPr lang="en-US" sz="1100" dirty="0"/>
          </a:p>
          <a:p>
            <a:pPr algn="ctr" indent="0" marL="0">
              <a:buNone/>
            </a:pPr>
            <a:r>
              <a:rPr lang="en-US" sz="1100" dirty="0">
                <a:solidFill>
                  <a:srgbClr val="1A2B3C"/>
                </a:solidFill>
                <a:latin typeface="Calibri" pitchFamily="34" charset="0"/>
                <a:ea typeface="Calibri" pitchFamily="34" charset="-122"/>
                <a:cs typeface="Calibri" pitchFamily="34" charset="-120"/>
              </a:rPr>
              <a:t>Database</a:t>
            </a:r>
            <a:endParaRPr lang="en-US" sz="1100" dirty="0"/>
          </a:p>
        </p:txBody>
      </p:sp>
      <p:sp>
        <p:nvSpPr>
          <p:cNvPr id="14" name="Shape 12"/>
          <p:cNvSpPr/>
          <p:nvPr/>
        </p:nvSpPr>
        <p:spPr>
          <a:xfrm>
            <a:off x="5029200" y="3840480"/>
            <a:ext cx="2194560" cy="777240"/>
          </a:xfrm>
          <a:prstGeom prst="roundRect">
            <a:avLst>
              <a:gd name="adj" fmla="val 9412"/>
            </a:avLst>
          </a:prstGeom>
          <a:solidFill>
            <a:srgbClr val="E8FFE8"/>
          </a:solidFill>
          <a:ln w="19050">
            <a:solidFill>
              <a:srgbClr val="27AE60"/>
            </a:solidFill>
            <a:prstDash val="solid"/>
          </a:ln>
        </p:spPr>
      </p:sp>
      <p:sp>
        <p:nvSpPr>
          <p:cNvPr id="15" name="Text 13"/>
          <p:cNvSpPr/>
          <p:nvPr/>
        </p:nvSpPr>
        <p:spPr>
          <a:xfrm>
            <a:off x="5029200" y="3840480"/>
            <a:ext cx="219456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Locate errors</a:t>
            </a:r>
            <a:endParaRPr lang="en-US" sz="1100" dirty="0"/>
          </a:p>
          <a:p>
            <a:pPr algn="ctr" indent="0" marL="0">
              <a:buNone/>
            </a:pPr>
            <a:r>
              <a:rPr lang="en-US" sz="1100" dirty="0">
                <a:solidFill>
                  <a:srgbClr val="1A2B3C"/>
                </a:solidFill>
                <a:latin typeface="Calibri" pitchFamily="34" charset="0"/>
                <a:ea typeface="Calibri" pitchFamily="34" charset="-122"/>
                <a:cs typeface="Calibri" pitchFamily="34" charset="-120"/>
              </a:rPr>
              <a:t>(RVE + Layout tool)</a:t>
            </a:r>
            <a:endParaRPr lang="en-US" sz="1100" dirty="0"/>
          </a:p>
        </p:txBody>
      </p:sp>
      <p:sp>
        <p:nvSpPr>
          <p:cNvPr id="16" name="Shape 14"/>
          <p:cNvSpPr/>
          <p:nvPr/>
        </p:nvSpPr>
        <p:spPr>
          <a:xfrm>
            <a:off x="1828800" y="3840480"/>
            <a:ext cx="1828800" cy="777240"/>
          </a:xfrm>
          <a:prstGeom prst="roundRect">
            <a:avLst>
              <a:gd name="adj" fmla="val 9412"/>
            </a:avLst>
          </a:prstGeom>
          <a:solidFill>
            <a:srgbClr val="FFE8E8"/>
          </a:solidFill>
          <a:ln w="19050">
            <a:solidFill>
              <a:srgbClr val="E03C31"/>
            </a:solidFill>
            <a:prstDash val="solid"/>
          </a:ln>
        </p:spPr>
      </p:sp>
      <p:sp>
        <p:nvSpPr>
          <p:cNvPr id="17" name="Text 15"/>
          <p:cNvSpPr/>
          <p:nvPr/>
        </p:nvSpPr>
        <p:spPr>
          <a:xfrm>
            <a:off x="1828800" y="3840480"/>
            <a:ext cx="182880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Fix Layout</a:t>
            </a:r>
            <a:endParaRPr lang="en-US" sz="1100" dirty="0"/>
          </a:p>
          <a:p>
            <a:pPr algn="ctr" indent="0" marL="0">
              <a:buNone/>
            </a:pPr>
            <a:r>
              <a:rPr lang="en-US" sz="1100" dirty="0">
                <a:solidFill>
                  <a:srgbClr val="1A2B3C"/>
                </a:solidFill>
                <a:latin typeface="Calibri" pitchFamily="34" charset="0"/>
                <a:ea typeface="Calibri" pitchFamily="34" charset="-122"/>
                <a:cs typeface="Calibri" pitchFamily="34" charset="-120"/>
              </a:rPr>
              <a:t>Errors</a:t>
            </a:r>
            <a:endParaRPr lang="en-US" sz="1100" dirty="0"/>
          </a:p>
        </p:txBody>
      </p:sp>
      <p:sp>
        <p:nvSpPr>
          <p:cNvPr id="18" name="Shape 16"/>
          <p:cNvSpPr/>
          <p:nvPr/>
        </p:nvSpPr>
        <p:spPr>
          <a:xfrm>
            <a:off x="1234440" y="1691640"/>
            <a:ext cx="1600200" cy="9144"/>
          </a:xfrm>
          <a:prstGeom prst="line">
            <a:avLst/>
          </a:prstGeom>
          <a:noFill/>
          <a:ln w="19050">
            <a:solidFill>
              <a:srgbClr val="5C7A8A"/>
            </a:solidFill>
            <a:prstDash val="solid"/>
            <a:tailEnd type="arrow"/>
          </a:ln>
        </p:spPr>
      </p:sp>
      <p:sp>
        <p:nvSpPr>
          <p:cNvPr id="19" name="Shape 17"/>
          <p:cNvSpPr/>
          <p:nvPr/>
        </p:nvSpPr>
        <p:spPr>
          <a:xfrm>
            <a:off x="7040880" y="1719072"/>
            <a:ext cx="1600200" cy="9144"/>
          </a:xfrm>
          <a:prstGeom prst="line">
            <a:avLst/>
          </a:prstGeom>
          <a:noFill/>
          <a:ln w="19050">
            <a:solidFill>
              <a:srgbClr val="5C7A8A"/>
            </a:solidFill>
            <a:prstDash val="solid"/>
            <a:tailEnd type="arrow"/>
          </a:ln>
        </p:spPr>
      </p:sp>
      <p:sp>
        <p:nvSpPr>
          <p:cNvPr id="20" name="Shape 18"/>
          <p:cNvSpPr/>
          <p:nvPr/>
        </p:nvSpPr>
        <p:spPr>
          <a:xfrm>
            <a:off x="3200400" y="2103120"/>
            <a:ext cx="9144" cy="640080"/>
          </a:xfrm>
          <a:prstGeom prst="line">
            <a:avLst/>
          </a:prstGeom>
          <a:noFill/>
          <a:ln w="19050">
            <a:solidFill>
              <a:srgbClr val="5C7A8A"/>
            </a:solidFill>
            <a:prstDash val="solid"/>
            <a:tailEnd type="arrow"/>
          </a:ln>
        </p:spPr>
      </p:sp>
      <p:sp>
        <p:nvSpPr>
          <p:cNvPr id="21" name="Shape 19"/>
          <p:cNvSpPr/>
          <p:nvPr/>
        </p:nvSpPr>
        <p:spPr>
          <a:xfrm>
            <a:off x="5943600" y="2103120"/>
            <a:ext cx="9144" cy="640080"/>
          </a:xfrm>
          <a:prstGeom prst="line">
            <a:avLst/>
          </a:prstGeom>
          <a:noFill/>
          <a:ln w="19050">
            <a:solidFill>
              <a:srgbClr val="5C7A8A"/>
            </a:solidFill>
            <a:prstDash val="solid"/>
            <a:tailEnd type="arrow"/>
          </a:ln>
        </p:spPr>
      </p:sp>
      <p:sp>
        <p:nvSpPr>
          <p:cNvPr id="22" name="Shape 20"/>
          <p:cNvSpPr/>
          <p:nvPr/>
        </p:nvSpPr>
        <p:spPr>
          <a:xfrm>
            <a:off x="7909560" y="3520440"/>
            <a:ext cx="9144" cy="320040"/>
          </a:xfrm>
          <a:prstGeom prst="line">
            <a:avLst/>
          </a:prstGeom>
          <a:noFill/>
          <a:ln w="19050">
            <a:solidFill>
              <a:srgbClr val="5C7A8A"/>
            </a:solidFill>
            <a:prstDash val="solid"/>
            <a:tailEnd type="arrow"/>
          </a:ln>
        </p:spPr>
      </p:sp>
      <p:sp>
        <p:nvSpPr>
          <p:cNvPr id="23" name="Shape 21"/>
          <p:cNvSpPr/>
          <p:nvPr/>
        </p:nvSpPr>
        <p:spPr>
          <a:xfrm>
            <a:off x="5029200" y="4224528"/>
            <a:ext cx="1371600" cy="9144"/>
          </a:xfrm>
          <a:prstGeom prst="line">
            <a:avLst/>
          </a:prstGeom>
          <a:noFill/>
          <a:ln w="19050">
            <a:solidFill>
              <a:srgbClr val="5C7A8A"/>
            </a:solidFill>
            <a:prstDash val="solid"/>
            <a:tailEnd type="arrow"/>
          </a:ln>
        </p:spPr>
      </p:sp>
      <p:sp>
        <p:nvSpPr>
          <p:cNvPr id="24" name="Shape 22"/>
          <p:cNvSpPr/>
          <p:nvPr/>
        </p:nvSpPr>
        <p:spPr>
          <a:xfrm>
            <a:off x="1828800" y="4224528"/>
            <a:ext cx="1234440" cy="9144"/>
          </a:xfrm>
          <a:prstGeom prst="line">
            <a:avLst/>
          </a:prstGeom>
          <a:noFill/>
          <a:ln w="19050">
            <a:solidFill>
              <a:srgbClr val="5C7A8A"/>
            </a:solidFill>
            <a:prstDash val="solid"/>
            <a:tailEnd type="arrow"/>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A896"/>
          </a:solidFill>
          <a:ln w="12700">
            <a:solidFill>
              <a:srgbClr val="00A896"/>
            </a:solidFill>
            <a:prstDash val="solid"/>
          </a:ln>
        </p:spPr>
      </p:sp>
      <p:sp>
        <p:nvSpPr>
          <p:cNvPr id="3" name="Text 1"/>
          <p:cNvSpPr/>
          <p:nvPr/>
        </p:nvSpPr>
        <p:spPr>
          <a:xfrm>
            <a:off x="411480" y="1371600"/>
            <a:ext cx="8321040" cy="457200"/>
          </a:xfrm>
          <a:prstGeom prst="rect">
            <a:avLst/>
          </a:prstGeom>
          <a:noFill/>
          <a:ln/>
        </p:spPr>
        <p:txBody>
          <a:bodyPr wrap="square" rtlCol="0" anchor="ctr"/>
          <a:lstStyle/>
          <a:p>
            <a:pPr algn="l" indent="0" marL="0">
              <a:buNone/>
            </a:pPr>
            <a:r>
              <a:rPr lang="en-US" sz="1300" b="1" spc="400" kern="0" dirty="0">
                <a:solidFill>
                  <a:srgbClr val="00A896"/>
                </a:solidFill>
                <a:latin typeface="Calibri" pitchFamily="34" charset="0"/>
                <a:ea typeface="Calibri" pitchFamily="34" charset="-122"/>
                <a:cs typeface="Calibri" pitchFamily="34" charset="-120"/>
              </a:rPr>
              <a:t>PART 01</a:t>
            </a:r>
            <a:endParaRPr lang="en-US" sz="1300" dirty="0"/>
          </a:p>
        </p:txBody>
      </p:sp>
      <p:sp>
        <p:nvSpPr>
          <p:cNvPr id="4" name="Text 2"/>
          <p:cNvSpPr/>
          <p:nvPr/>
        </p:nvSpPr>
        <p:spPr>
          <a:xfrm>
            <a:off x="411480" y="1920240"/>
            <a:ext cx="8321040" cy="1463040"/>
          </a:xfrm>
          <a:prstGeom prst="rect">
            <a:avLst/>
          </a:prstGeom>
          <a:noFill/>
          <a:ln/>
        </p:spPr>
        <p:txBody>
          <a:bodyPr wrap="square"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Set Up an nmDRC Run</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Part 1 — Objectives</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8503920" cy="3840480"/>
          </a:xfrm>
          <a:prstGeom prst="roundRect">
            <a:avLst>
              <a:gd name="adj" fmla="val 2381"/>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1051560"/>
            <a:ext cx="8046720" cy="365760"/>
          </a:xfrm>
          <a:prstGeom prst="rect">
            <a:avLst/>
          </a:prstGeom>
          <a:noFill/>
          <a:ln/>
        </p:spPr>
        <p:txBody>
          <a:bodyPr wrap="square" rtlCol="0" anchor="ctr"/>
          <a:lstStyle/>
          <a:p>
            <a:pPr indent="0" marL="0">
              <a:buNone/>
            </a:pPr>
            <a:r>
              <a:rPr lang="en-US" sz="1400" i="1" dirty="0">
                <a:solidFill>
                  <a:srgbClr val="5C7A8A"/>
                </a:solidFill>
                <a:latin typeface="Calibri" pitchFamily="34" charset="0"/>
                <a:ea typeface="Calibri" pitchFamily="34" charset="-122"/>
                <a:cs typeface="Calibri" pitchFamily="34" charset="-120"/>
              </a:rPr>
              <a:t>By the end of Part 1 you will be able to:</a:t>
            </a:r>
            <a:endParaRPr lang="en-US" sz="1400" dirty="0"/>
          </a:p>
        </p:txBody>
      </p:sp>
      <p:sp>
        <p:nvSpPr>
          <p:cNvPr id="6" name="Text 4"/>
          <p:cNvSpPr/>
          <p:nvPr/>
        </p:nvSpPr>
        <p:spPr>
          <a:xfrm>
            <a:off x="548640" y="1508760"/>
            <a:ext cx="8046720" cy="3200400"/>
          </a:xfrm>
          <a:prstGeom prst="rect">
            <a:avLst/>
          </a:prstGeom>
          <a:noFill/>
          <a:ln/>
        </p:spPr>
        <p:txBody>
          <a:bodyPr wrap="square" rtlCol="0" anchor="t"/>
          <a:lstStyle/>
          <a:p>
            <a:pPr marL="342900" indent="-342900">
              <a:spcAft>
                <a:spcPts val="800"/>
              </a:spcAft>
              <a:buSzPct val="100000"/>
              <a:buChar char="•"/>
            </a:pPr>
            <a:r>
              <a:rPr lang="en-US" sz="1500" dirty="0">
                <a:solidFill>
                  <a:srgbClr val="1A2B3C"/>
                </a:solidFill>
                <a:latin typeface="Calibri" pitchFamily="34" charset="0"/>
                <a:ea typeface="Calibri" pitchFamily="34" charset="-122"/>
                <a:cs typeface="Calibri" pitchFamily="34" charset="-120"/>
              </a:rPr>
              <a:t>Specify rule files — point Calibre to the foundry's design rule file</a:t>
            </a:r>
            <a:endParaRPr lang="en-US" sz="1500" dirty="0"/>
          </a:p>
          <a:p>
            <a:pPr marL="342900" indent="-342900">
              <a:spcAft>
                <a:spcPts val="800"/>
              </a:spcAft>
              <a:buSzPct val="100000"/>
              <a:buChar char="•"/>
            </a:pPr>
            <a:r>
              <a:rPr lang="en-US" sz="1500" dirty="0">
                <a:solidFill>
                  <a:srgbClr val="1A2B3C"/>
                </a:solidFill>
                <a:latin typeface="Calibri" pitchFamily="34" charset="0"/>
                <a:ea typeface="Calibri" pitchFamily="34" charset="-122"/>
                <a:cs typeface="Calibri" pitchFamily="34" charset="-120"/>
              </a:rPr>
              <a:t>Specify input information — provide the layout file and top cell name</a:t>
            </a:r>
            <a:endParaRPr lang="en-US" sz="1500" dirty="0"/>
          </a:p>
          <a:p>
            <a:pPr marL="342900" indent="-342900">
              <a:spcAft>
                <a:spcPts val="800"/>
              </a:spcAft>
              <a:buSzPct val="100000"/>
              <a:buChar char="•"/>
            </a:pPr>
            <a:r>
              <a:rPr lang="en-US" sz="1500" dirty="0">
                <a:solidFill>
                  <a:srgbClr val="1A2B3C"/>
                </a:solidFill>
                <a:latin typeface="Calibri" pitchFamily="34" charset="0"/>
                <a:ea typeface="Calibri" pitchFamily="34" charset="-122"/>
                <a:cs typeface="Calibri" pitchFamily="34" charset="-120"/>
              </a:rPr>
              <a:t>Specify output information — set results database and summary report paths</a:t>
            </a:r>
            <a:endParaRPr lang="en-US" sz="1500" dirty="0"/>
          </a:p>
          <a:p>
            <a:pPr marL="342900" indent="-342900">
              <a:spcAft>
                <a:spcPts val="800"/>
              </a:spcAft>
              <a:buSzPct val="100000"/>
              <a:buChar char="•"/>
            </a:pPr>
            <a:r>
              <a:rPr lang="en-US" sz="1500" dirty="0">
                <a:solidFill>
                  <a:srgbClr val="1A2B3C"/>
                </a:solidFill>
                <a:latin typeface="Calibri" pitchFamily="34" charset="0"/>
                <a:ea typeface="Calibri" pitchFamily="34" charset="-122"/>
                <a:cs typeface="Calibri" pitchFamily="34" charset="-120"/>
              </a:rPr>
              <a:t>Specify nmDRC job options — configure parameters like maximum results per check</a:t>
            </a:r>
            <a:endParaRPr lang="en-US" sz="1500" dirty="0"/>
          </a:p>
          <a:p>
            <a:pPr marL="342900" indent="-342900">
              <a:spcAft>
                <a:spcPts val="800"/>
              </a:spcAft>
              <a:buSzPct val="100000"/>
              <a:buChar char="•"/>
            </a:pPr>
            <a:r>
              <a:rPr lang="en-US" sz="1500" dirty="0">
                <a:solidFill>
                  <a:srgbClr val="1A2B3C"/>
                </a:solidFill>
                <a:latin typeface="Calibri" pitchFamily="34" charset="0"/>
                <a:ea typeface="Calibri" pitchFamily="34" charset="-122"/>
                <a:cs typeface="Calibri" pitchFamily="34" charset="-120"/>
              </a:rPr>
              <a:t>Execute the nmDRC job — run from the GUI or command line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Executing a Calibre nmDRC Job</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60120"/>
            <a:ext cx="1572768" cy="2377440"/>
          </a:xfrm>
          <a:prstGeom prst="roundRect">
            <a:avLst>
              <a:gd name="adj" fmla="val 5814"/>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832104" y="1051560"/>
            <a:ext cx="548640" cy="548640"/>
          </a:xfrm>
          <a:prstGeom prst="ellipse">
            <a:avLst/>
          </a:prstGeom>
          <a:solidFill>
            <a:srgbClr val="00A896"/>
          </a:solidFill>
          <a:ln w="12700">
            <a:solidFill>
              <a:srgbClr val="00A896"/>
            </a:solidFill>
            <a:prstDash val="solid"/>
          </a:ln>
        </p:spPr>
      </p:sp>
      <p:sp>
        <p:nvSpPr>
          <p:cNvPr id="6" name="Text 4"/>
          <p:cNvSpPr/>
          <p:nvPr/>
        </p:nvSpPr>
        <p:spPr>
          <a:xfrm>
            <a:off x="832104" y="1051560"/>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411480" y="1719072"/>
            <a:ext cx="1389888"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Specify Rule File</a:t>
            </a:r>
            <a:endParaRPr lang="en-US" sz="1100" dirty="0"/>
          </a:p>
        </p:txBody>
      </p:sp>
      <p:sp>
        <p:nvSpPr>
          <p:cNvPr id="8" name="Text 6"/>
          <p:cNvSpPr/>
          <p:nvPr/>
        </p:nvSpPr>
        <p:spPr>
          <a:xfrm>
            <a:off x="411480" y="2286000"/>
            <a:ext cx="1389888" cy="868680"/>
          </a:xfrm>
          <a:prstGeom prst="rect">
            <a:avLst/>
          </a:prstGeom>
          <a:noFill/>
          <a:ln/>
        </p:spPr>
        <p:txBody>
          <a:bodyPr wrap="square" rtlCol="0" anchor="ctr"/>
          <a:lstStyle/>
          <a:p>
            <a:pPr algn="ctr" indent="0" marL="0">
              <a:buNone/>
            </a:pPr>
            <a:r>
              <a:rPr lang="en-US" sz="1000" dirty="0">
                <a:solidFill>
                  <a:srgbClr val="5C7A8A"/>
                </a:solidFill>
                <a:latin typeface="Calibri" pitchFamily="34" charset="0"/>
                <a:ea typeface="Calibri" pitchFamily="34" charset="-122"/>
                <a:cs typeface="Calibri" pitchFamily="34" charset="-120"/>
              </a:rPr>
              <a:t>Point to the foundry .rules file</a:t>
            </a:r>
            <a:endParaRPr lang="en-US" sz="1000" dirty="0"/>
          </a:p>
        </p:txBody>
      </p:sp>
      <p:sp>
        <p:nvSpPr>
          <p:cNvPr id="9" name="Shape 7"/>
          <p:cNvSpPr/>
          <p:nvPr/>
        </p:nvSpPr>
        <p:spPr>
          <a:xfrm>
            <a:off x="2039112" y="960120"/>
            <a:ext cx="1572768" cy="2377440"/>
          </a:xfrm>
          <a:prstGeom prst="roundRect">
            <a:avLst>
              <a:gd name="adj" fmla="val 5814"/>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0" name="Shape 8"/>
          <p:cNvSpPr/>
          <p:nvPr/>
        </p:nvSpPr>
        <p:spPr>
          <a:xfrm>
            <a:off x="2551176" y="1051560"/>
            <a:ext cx="548640" cy="548640"/>
          </a:xfrm>
          <a:prstGeom prst="ellipse">
            <a:avLst/>
          </a:prstGeom>
          <a:solidFill>
            <a:srgbClr val="00A896"/>
          </a:solidFill>
          <a:ln w="12700">
            <a:solidFill>
              <a:srgbClr val="00A896"/>
            </a:solidFill>
            <a:prstDash val="solid"/>
          </a:ln>
        </p:spPr>
      </p:sp>
      <p:sp>
        <p:nvSpPr>
          <p:cNvPr id="11" name="Text 9"/>
          <p:cNvSpPr/>
          <p:nvPr/>
        </p:nvSpPr>
        <p:spPr>
          <a:xfrm>
            <a:off x="2551176" y="1051560"/>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2130552" y="1719072"/>
            <a:ext cx="1389888"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Specify Input Info</a:t>
            </a:r>
            <a:endParaRPr lang="en-US" sz="1100" dirty="0"/>
          </a:p>
        </p:txBody>
      </p:sp>
      <p:sp>
        <p:nvSpPr>
          <p:cNvPr id="13" name="Text 11"/>
          <p:cNvSpPr/>
          <p:nvPr/>
        </p:nvSpPr>
        <p:spPr>
          <a:xfrm>
            <a:off x="2130552" y="2286000"/>
            <a:ext cx="1389888" cy="868680"/>
          </a:xfrm>
          <a:prstGeom prst="rect">
            <a:avLst/>
          </a:prstGeom>
          <a:noFill/>
          <a:ln/>
        </p:spPr>
        <p:txBody>
          <a:bodyPr wrap="square" rtlCol="0" anchor="ctr"/>
          <a:lstStyle/>
          <a:p>
            <a:pPr algn="ctr" indent="0" marL="0">
              <a:buNone/>
            </a:pPr>
            <a:r>
              <a:rPr lang="en-US" sz="1000" dirty="0">
                <a:solidFill>
                  <a:srgbClr val="5C7A8A"/>
                </a:solidFill>
                <a:latin typeface="Calibri" pitchFamily="34" charset="0"/>
                <a:ea typeface="Calibri" pitchFamily="34" charset="-122"/>
                <a:cs typeface="Calibri" pitchFamily="34" charset="-120"/>
              </a:rPr>
              <a:t>Layout file path + top cell name</a:t>
            </a:r>
            <a:endParaRPr lang="en-US" sz="1000" dirty="0"/>
          </a:p>
        </p:txBody>
      </p:sp>
      <p:sp>
        <p:nvSpPr>
          <p:cNvPr id="14" name="Shape 12"/>
          <p:cNvSpPr/>
          <p:nvPr/>
        </p:nvSpPr>
        <p:spPr>
          <a:xfrm>
            <a:off x="3758184" y="960120"/>
            <a:ext cx="1572768" cy="2377440"/>
          </a:xfrm>
          <a:prstGeom prst="roundRect">
            <a:avLst>
              <a:gd name="adj" fmla="val 5814"/>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4270248" y="1051560"/>
            <a:ext cx="548640" cy="548640"/>
          </a:xfrm>
          <a:prstGeom prst="ellipse">
            <a:avLst/>
          </a:prstGeom>
          <a:solidFill>
            <a:srgbClr val="00A896"/>
          </a:solidFill>
          <a:ln w="12700">
            <a:solidFill>
              <a:srgbClr val="00A896"/>
            </a:solidFill>
            <a:prstDash val="solid"/>
          </a:ln>
        </p:spPr>
      </p:sp>
      <p:sp>
        <p:nvSpPr>
          <p:cNvPr id="16" name="Text 14"/>
          <p:cNvSpPr/>
          <p:nvPr/>
        </p:nvSpPr>
        <p:spPr>
          <a:xfrm>
            <a:off x="4270248" y="1051560"/>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3849624" y="1719072"/>
            <a:ext cx="1389888"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Specify Output Info</a:t>
            </a:r>
            <a:endParaRPr lang="en-US" sz="1100" dirty="0"/>
          </a:p>
        </p:txBody>
      </p:sp>
      <p:sp>
        <p:nvSpPr>
          <p:cNvPr id="18" name="Text 16"/>
          <p:cNvSpPr/>
          <p:nvPr/>
        </p:nvSpPr>
        <p:spPr>
          <a:xfrm>
            <a:off x="3849624" y="2286000"/>
            <a:ext cx="1389888" cy="868680"/>
          </a:xfrm>
          <a:prstGeom prst="rect">
            <a:avLst/>
          </a:prstGeom>
          <a:noFill/>
          <a:ln/>
        </p:spPr>
        <p:txBody>
          <a:bodyPr wrap="square" rtlCol="0" anchor="ctr"/>
          <a:lstStyle/>
          <a:p>
            <a:pPr algn="ctr" indent="0" marL="0">
              <a:buNone/>
            </a:pPr>
            <a:r>
              <a:rPr lang="en-US" sz="1000" dirty="0">
                <a:solidFill>
                  <a:srgbClr val="5C7A8A"/>
                </a:solidFill>
                <a:latin typeface="Calibri" pitchFamily="34" charset="0"/>
                <a:ea typeface="Calibri" pitchFamily="34" charset="-122"/>
                <a:cs typeface="Calibri" pitchFamily="34" charset="-120"/>
              </a:rPr>
              <a:t>Results DB + Summary report paths</a:t>
            </a:r>
            <a:endParaRPr lang="en-US" sz="1000" dirty="0"/>
          </a:p>
        </p:txBody>
      </p:sp>
      <p:sp>
        <p:nvSpPr>
          <p:cNvPr id="19" name="Shape 17"/>
          <p:cNvSpPr/>
          <p:nvPr/>
        </p:nvSpPr>
        <p:spPr>
          <a:xfrm>
            <a:off x="5477256" y="960120"/>
            <a:ext cx="1572768" cy="2377440"/>
          </a:xfrm>
          <a:prstGeom prst="roundRect">
            <a:avLst>
              <a:gd name="adj" fmla="val 5814"/>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20" name="Shape 18"/>
          <p:cNvSpPr/>
          <p:nvPr/>
        </p:nvSpPr>
        <p:spPr>
          <a:xfrm>
            <a:off x="5989320" y="1051560"/>
            <a:ext cx="548640" cy="548640"/>
          </a:xfrm>
          <a:prstGeom prst="ellipse">
            <a:avLst/>
          </a:prstGeom>
          <a:solidFill>
            <a:srgbClr val="00A896"/>
          </a:solidFill>
          <a:ln w="12700">
            <a:solidFill>
              <a:srgbClr val="00A896"/>
            </a:solidFill>
            <a:prstDash val="solid"/>
          </a:ln>
        </p:spPr>
      </p:sp>
      <p:sp>
        <p:nvSpPr>
          <p:cNvPr id="21" name="Text 19"/>
          <p:cNvSpPr/>
          <p:nvPr/>
        </p:nvSpPr>
        <p:spPr>
          <a:xfrm>
            <a:off x="5989320" y="1051560"/>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5568696" y="1719072"/>
            <a:ext cx="1389888"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Specify nmDRC Options</a:t>
            </a:r>
            <a:endParaRPr lang="en-US" sz="1100" dirty="0"/>
          </a:p>
        </p:txBody>
      </p:sp>
      <p:sp>
        <p:nvSpPr>
          <p:cNvPr id="23" name="Text 21"/>
          <p:cNvSpPr/>
          <p:nvPr/>
        </p:nvSpPr>
        <p:spPr>
          <a:xfrm>
            <a:off x="5568696" y="2286000"/>
            <a:ext cx="1389888" cy="868680"/>
          </a:xfrm>
          <a:prstGeom prst="rect">
            <a:avLst/>
          </a:prstGeom>
          <a:noFill/>
          <a:ln/>
        </p:spPr>
        <p:txBody>
          <a:bodyPr wrap="square" rtlCol="0" anchor="ctr"/>
          <a:lstStyle/>
          <a:p>
            <a:pPr algn="ctr" indent="0" marL="0">
              <a:buNone/>
            </a:pPr>
            <a:r>
              <a:rPr lang="en-US" sz="1000" dirty="0">
                <a:solidFill>
                  <a:srgbClr val="5C7A8A"/>
                </a:solidFill>
                <a:latin typeface="Calibri" pitchFamily="34" charset="0"/>
                <a:ea typeface="Calibri" pitchFamily="34" charset="-122"/>
                <a:cs typeface="Calibri" pitchFamily="34" charset="-120"/>
              </a:rPr>
              <a:t>e.g. max results per rule check</a:t>
            </a:r>
            <a:endParaRPr lang="en-US" sz="1000" dirty="0"/>
          </a:p>
        </p:txBody>
      </p:sp>
      <p:sp>
        <p:nvSpPr>
          <p:cNvPr id="24" name="Shape 22"/>
          <p:cNvSpPr/>
          <p:nvPr/>
        </p:nvSpPr>
        <p:spPr>
          <a:xfrm>
            <a:off x="7196328" y="960120"/>
            <a:ext cx="1572768" cy="2377440"/>
          </a:xfrm>
          <a:prstGeom prst="roundRect">
            <a:avLst>
              <a:gd name="adj" fmla="val 5814"/>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7708392" y="1051560"/>
            <a:ext cx="548640" cy="548640"/>
          </a:xfrm>
          <a:prstGeom prst="ellipse">
            <a:avLst/>
          </a:prstGeom>
          <a:solidFill>
            <a:srgbClr val="00A896"/>
          </a:solidFill>
          <a:ln w="12700">
            <a:solidFill>
              <a:srgbClr val="00A896"/>
            </a:solidFill>
            <a:prstDash val="solid"/>
          </a:ln>
        </p:spPr>
      </p:sp>
      <p:sp>
        <p:nvSpPr>
          <p:cNvPr id="26" name="Text 24"/>
          <p:cNvSpPr/>
          <p:nvPr/>
        </p:nvSpPr>
        <p:spPr>
          <a:xfrm>
            <a:off x="7708392" y="1051560"/>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7287768" y="1719072"/>
            <a:ext cx="1389888"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Execute nmDRC Job</a:t>
            </a:r>
            <a:endParaRPr lang="en-US" sz="1100" dirty="0"/>
          </a:p>
        </p:txBody>
      </p:sp>
      <p:sp>
        <p:nvSpPr>
          <p:cNvPr id="28" name="Text 26"/>
          <p:cNvSpPr/>
          <p:nvPr/>
        </p:nvSpPr>
        <p:spPr>
          <a:xfrm>
            <a:off x="7287768" y="2286000"/>
            <a:ext cx="1389888" cy="868680"/>
          </a:xfrm>
          <a:prstGeom prst="rect">
            <a:avLst/>
          </a:prstGeom>
          <a:noFill/>
          <a:ln/>
        </p:spPr>
        <p:txBody>
          <a:bodyPr wrap="square" rtlCol="0" anchor="ctr"/>
          <a:lstStyle/>
          <a:p>
            <a:pPr algn="ctr" indent="0" marL="0">
              <a:buNone/>
            </a:pPr>
            <a:r>
              <a:rPr lang="en-US" sz="1000" dirty="0">
                <a:solidFill>
                  <a:srgbClr val="5C7A8A"/>
                </a:solidFill>
                <a:latin typeface="Calibri" pitchFamily="34" charset="0"/>
                <a:ea typeface="Calibri" pitchFamily="34" charset="-122"/>
                <a:cs typeface="Calibri" pitchFamily="34" charset="-120"/>
              </a:rPr>
              <a:t>Click Run DRC or run from terminal</a:t>
            </a:r>
            <a:endParaRPr lang="en-US" sz="1000" dirty="0"/>
          </a:p>
        </p:txBody>
      </p:sp>
      <p:sp>
        <p:nvSpPr>
          <p:cNvPr id="29" name="Shape 27"/>
          <p:cNvSpPr/>
          <p:nvPr/>
        </p:nvSpPr>
        <p:spPr>
          <a:xfrm>
            <a:off x="320040" y="3520440"/>
            <a:ext cx="8503920" cy="1371600"/>
          </a:xfrm>
          <a:prstGeom prst="roundRect">
            <a:avLst>
              <a:gd name="adj" fmla="val 6667"/>
            </a:avLst>
          </a:prstGeom>
          <a:solidFill>
            <a:srgbClr val="EDF9F7"/>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502920" y="3639312"/>
            <a:ext cx="8138160" cy="114300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GUI Method: </a:t>
            </a:r>
            <a:pPr indent="0" marL="0">
              <a:buNone/>
            </a:pPr>
            <a:r>
              <a:rPr lang="en-US" sz="1200" dirty="0">
                <a:solidFill>
                  <a:srgbClr val="1A2B3C"/>
                </a:solidFill>
                <a:latin typeface="Calibri" pitchFamily="34" charset="0"/>
                <a:ea typeface="Calibri" pitchFamily="34" charset="-122"/>
                <a:cs typeface="Calibri" pitchFamily="34" charset="-120"/>
              </a:rPr>
              <a:t>Calibre Interactive — fill in forms, Calibre generates SVRF automatically.</a:t>
            </a:r>
            <a:pPr indent="0" marL="0">
              <a:buNone/>
            </a:pPr>
            <a:r>
              <a:rPr lang="en-US" sz="1200" dirty="0">
                <a:solidFill>
                  <a:srgbClr val="AAAAAA"/>
                </a:solidFill>
                <a:latin typeface="Calibri" pitchFamily="34" charset="0"/>
                <a:ea typeface="Calibri" pitchFamily="34" charset="-122"/>
                <a:cs typeface="Calibri" pitchFamily="34" charset="-120"/>
              </a:rPr>
              <a:t>   |   </a:t>
            </a:r>
            <a:pPr indent="0" marL="0">
              <a:buNone/>
            </a:pPr>
            <a:r>
              <a:rPr lang="en-US" sz="1200" b="1" dirty="0">
                <a:solidFill>
                  <a:srgbClr val="00A896"/>
                </a:solidFill>
                <a:latin typeface="Calibri" pitchFamily="34" charset="0"/>
                <a:ea typeface="Calibri" pitchFamily="34" charset="-122"/>
                <a:cs typeface="Calibri" pitchFamily="34" charset="-120"/>
              </a:rPr>
              <a:t>Command Line: </a:t>
            </a:r>
            <a:pPr indent="0" marL="0">
              <a:buNone/>
            </a:pPr>
            <a:r>
              <a:rPr lang="en-US" sz="1200" dirty="0">
                <a:solidFill>
                  <a:srgbClr val="1A2B3C"/>
                </a:solidFill>
                <a:latin typeface="Calibri" pitchFamily="34" charset="0"/>
                <a:ea typeface="Calibri" pitchFamily="34" charset="-122"/>
                <a:cs typeface="Calibri" pitchFamily="34" charset="-120"/>
              </a:rPr>
              <a:t>Write settings in a SVRF runset file, invoke calibre from the terminal. Both methods are equivalent.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Step 1 — Specify the Rule File</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4572000" cy="3108960"/>
          </a:xfrm>
          <a:prstGeom prst="roundRect">
            <a:avLst>
              <a:gd name="adj" fmla="val 2941"/>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42062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In the Calibre Interactive GUI:</a:t>
            </a:r>
            <a:endParaRPr lang="en-US" sz="1200" dirty="0"/>
          </a:p>
        </p:txBody>
      </p:sp>
      <p:sp>
        <p:nvSpPr>
          <p:cNvPr id="6" name="Text 4"/>
          <p:cNvSpPr/>
          <p:nvPr/>
        </p:nvSpPr>
        <p:spPr>
          <a:xfrm>
            <a:off x="502920" y="1417320"/>
            <a:ext cx="4206240" cy="2468880"/>
          </a:xfrm>
          <a:prstGeom prst="rect">
            <a:avLst/>
          </a:prstGeom>
          <a:noFill/>
          <a:ln/>
        </p:spPr>
        <p:txBody>
          <a:bodyPr wrap="square" rtlCol="0" anchor="t"/>
          <a:lstStyle/>
          <a:p>
            <a:pPr marL="342900" indent="-342900">
              <a:spcAft>
                <a:spcPts val="7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Click Rules in the left navigation panel</a:t>
            </a:r>
            <a:endParaRPr lang="en-US" sz="1200" dirty="0"/>
          </a:p>
          <a:p>
            <a:pPr marL="342900" indent="-342900">
              <a:spcAft>
                <a:spcPts val="7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Type the rule file name in Rules File (e.g. drc.rules) or browse to it</a:t>
            </a:r>
            <a:endParaRPr lang="en-US" sz="1200" dirty="0"/>
          </a:p>
          <a:p>
            <a:pPr marL="342900" indent="-342900">
              <a:spcAft>
                <a:spcPts val="7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Click Load — populates other GUI fields from the rule file</a:t>
            </a:r>
            <a:endParaRPr lang="en-US" sz="1200" dirty="0"/>
          </a:p>
          <a:p>
            <a:pPr marL="342900" indent="-342900">
              <a:spcAft>
                <a:spcPts val="7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Optionally click View to inspect the rule file contents</a:t>
            </a:r>
            <a:endParaRPr lang="en-US" sz="1200" dirty="0"/>
          </a:p>
        </p:txBody>
      </p:sp>
      <p:sp>
        <p:nvSpPr>
          <p:cNvPr id="7" name="Shape 5"/>
          <p:cNvSpPr/>
          <p:nvPr/>
        </p:nvSpPr>
        <p:spPr>
          <a:xfrm>
            <a:off x="5120640" y="914400"/>
            <a:ext cx="3703320" cy="1645920"/>
          </a:xfrm>
          <a:prstGeom prst="roundRect">
            <a:avLst>
              <a:gd name="adj" fmla="val 5556"/>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303520" y="1005840"/>
            <a:ext cx="32918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Equivalent SVRF command:</a:t>
            </a:r>
            <a:endParaRPr lang="en-US" sz="1200" dirty="0"/>
          </a:p>
        </p:txBody>
      </p:sp>
      <p:sp>
        <p:nvSpPr>
          <p:cNvPr id="9" name="Shape 7"/>
          <p:cNvSpPr/>
          <p:nvPr/>
        </p:nvSpPr>
        <p:spPr>
          <a:xfrm>
            <a:off x="5120640" y="1371600"/>
            <a:ext cx="3703320" cy="594360"/>
          </a:xfrm>
          <a:prstGeom prst="roundRect">
            <a:avLst>
              <a:gd name="adj" fmla="val 12308"/>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230368" y="1463040"/>
            <a:ext cx="3483864" cy="41148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INCLUDE "drc.rules"</a:t>
            </a:r>
            <a:endParaRPr lang="en-US" sz="1050" dirty="0"/>
          </a:p>
        </p:txBody>
      </p:sp>
      <p:sp>
        <p:nvSpPr>
          <p:cNvPr id="11" name="Shape 9"/>
          <p:cNvSpPr/>
          <p:nvPr/>
        </p:nvSpPr>
        <p:spPr>
          <a:xfrm>
            <a:off x="5120640" y="2148840"/>
            <a:ext cx="3703320" cy="1828800"/>
          </a:xfrm>
          <a:prstGeom prst="roundRect">
            <a:avLst>
              <a:gd name="adj" fmla="val 5000"/>
            </a:avLst>
          </a:prstGeom>
          <a:solidFill>
            <a:srgbClr val="FFF8E1"/>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303520" y="2240280"/>
            <a:ext cx="3337560" cy="32004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 Key Insight</a:t>
            </a:r>
            <a:endParaRPr lang="en-US" sz="1100" dirty="0"/>
          </a:p>
        </p:txBody>
      </p:sp>
      <p:sp>
        <p:nvSpPr>
          <p:cNvPr id="13" name="Text 11"/>
          <p:cNvSpPr/>
          <p:nvPr/>
        </p:nvSpPr>
        <p:spPr>
          <a:xfrm>
            <a:off x="5303520" y="2606040"/>
            <a:ext cx="3337560" cy="12344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The GUI "Rules File" field is a visual wrapper around the INCLUDE statement. Typing drc.rules in the GUI and clicking Run DRC causes Calibre to generate INCLUDE "drc.rules" internally.</a:t>
            </a:r>
            <a:endParaRPr lang="en-US" sz="1100" dirty="0"/>
          </a:p>
        </p:txBody>
      </p:sp>
      <p:sp>
        <p:nvSpPr>
          <p:cNvPr id="14" name="Shape 12"/>
          <p:cNvSpPr/>
          <p:nvPr/>
        </p:nvSpPr>
        <p:spPr>
          <a:xfrm>
            <a:off x="320040" y="4114800"/>
            <a:ext cx="8503920" cy="914400"/>
          </a:xfrm>
          <a:prstGeom prst="roundRect">
            <a:avLst>
              <a:gd name="adj" fmla="val 8000"/>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429768" y="4206240"/>
            <a:ext cx="8284464" cy="73152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 Job and User settings SVRF file</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PRIMARY lab1    // TOPCELL</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SYSTEM GDSII    // file format</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PATH "/home/student/work/lab1.gds"</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RESULTS DATABASE lab1.drc.results ASCII</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SUMMARY REPORT lab1.drc.summary</a:t>
            </a:r>
            <a:endParaRPr lang="en-US" sz="1050" dirty="0"/>
          </a:p>
          <a:p>
            <a:pPr indent="0" marL="0">
              <a:buNone/>
            </a:pP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INCLUDE "drc.rules"     ← THIS step</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INCLUDE "golden_rules"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Step 2 — Specify Input Information</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4572000" cy="3200400"/>
          </a:xfrm>
          <a:prstGeom prst="roundRect">
            <a:avLst>
              <a:gd name="adj" fmla="val 285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42062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In the Calibre Interactive GUI:</a:t>
            </a:r>
            <a:endParaRPr lang="en-US" sz="1200" dirty="0"/>
          </a:p>
        </p:txBody>
      </p:sp>
      <p:sp>
        <p:nvSpPr>
          <p:cNvPr id="6" name="Text 4"/>
          <p:cNvSpPr/>
          <p:nvPr/>
        </p:nvSpPr>
        <p:spPr>
          <a:xfrm>
            <a:off x="502920" y="1417320"/>
            <a:ext cx="4206240" cy="25603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Click Inputs in the left navigation panel</a:t>
            </a:r>
            <a:endParaRPr lang="en-US" sz="1150" dirty="0"/>
          </a:p>
          <a:p>
            <a:pPr marL="342900" indent="-342900">
              <a:spcAft>
                <a:spcPts val="6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Set Layout Format — almost always GDSII</a:t>
            </a:r>
            <a:endParaRPr lang="en-US" sz="1150" dirty="0"/>
          </a:p>
          <a:p>
            <a:pPr marL="342900" indent="-342900">
              <a:spcAft>
                <a:spcPts val="6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Set Layout File — path to your .gds file (e.g. lab1.gds)</a:t>
            </a:r>
            <a:endParaRPr lang="en-US" sz="1150" dirty="0"/>
          </a:p>
          <a:p>
            <a:pPr marL="342900" indent="-342900">
              <a:spcAft>
                <a:spcPts val="6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Set Top Cell — name of the top-level cell (e.g. lab1)</a:t>
            </a:r>
            <a:endParaRPr lang="en-US" sz="1150" dirty="0"/>
          </a:p>
          <a:p>
            <a:pPr marL="342900" indent="-342900">
              <a:spcAft>
                <a:spcPts val="6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Enable Export from layout viewer to automatically stream the latest layout from your editor</a:t>
            </a:r>
            <a:endParaRPr lang="en-US" sz="1150" dirty="0"/>
          </a:p>
        </p:txBody>
      </p:sp>
      <p:sp>
        <p:nvSpPr>
          <p:cNvPr id="7" name="Shape 5"/>
          <p:cNvSpPr/>
          <p:nvPr/>
        </p:nvSpPr>
        <p:spPr>
          <a:xfrm>
            <a:off x="5120640" y="914400"/>
            <a:ext cx="3703320" cy="1554480"/>
          </a:xfrm>
          <a:prstGeom prst="roundRect">
            <a:avLst>
              <a:gd name="adj" fmla="val 5882"/>
            </a:avLst>
          </a:prstGeom>
          <a:solidFill>
            <a:srgbClr val="E8F4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303520" y="1005840"/>
            <a:ext cx="3337560" cy="320040"/>
          </a:xfrm>
          <a:prstGeom prst="rect">
            <a:avLst/>
          </a:prstGeom>
          <a:noFill/>
          <a:ln/>
        </p:spPr>
        <p:txBody>
          <a:bodyPr wrap="square" rtlCol="0" anchor="ctr"/>
          <a:lstStyle/>
          <a:p>
            <a:pPr indent="0" marL="0">
              <a:buNone/>
            </a:pPr>
            <a:r>
              <a:rPr lang="en-US" sz="1200" b="1" dirty="0">
                <a:solidFill>
                  <a:srgbClr val="4A90D9"/>
                </a:solidFill>
                <a:latin typeface="Calibri" pitchFamily="34" charset="0"/>
                <a:ea typeface="Calibri" pitchFamily="34" charset="-122"/>
                <a:cs typeface="Calibri" pitchFamily="34" charset="-120"/>
              </a:rPr>
              <a:t>What is a Top Cell?</a:t>
            </a:r>
            <a:endParaRPr lang="en-US" sz="1200" dirty="0"/>
          </a:p>
        </p:txBody>
      </p:sp>
      <p:sp>
        <p:nvSpPr>
          <p:cNvPr id="9" name="Text 7"/>
          <p:cNvSpPr/>
          <p:nvPr/>
        </p:nvSpPr>
        <p:spPr>
          <a:xfrm>
            <a:off x="5303520" y="1371600"/>
            <a:ext cx="3337560" cy="10058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IC layouts are hierarchical — like a tree. The Top Cell is the root. Calibre starts there and traverses all subcells. Always match the name exactly as it appears in your .gds file.</a:t>
            </a:r>
            <a:endParaRPr lang="en-US" sz="1100" dirty="0"/>
          </a:p>
        </p:txBody>
      </p:sp>
      <p:sp>
        <p:nvSpPr>
          <p:cNvPr id="10" name="Shape 8"/>
          <p:cNvSpPr/>
          <p:nvPr/>
        </p:nvSpPr>
        <p:spPr>
          <a:xfrm>
            <a:off x="5120640" y="2606040"/>
            <a:ext cx="3703320" cy="1554480"/>
          </a:xfrm>
          <a:prstGeom prst="roundRect">
            <a:avLst>
              <a:gd name="adj" fmla="val 5882"/>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303520" y="2697480"/>
            <a:ext cx="333756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Equivalent SVRF commands:</a:t>
            </a:r>
            <a:endParaRPr lang="en-US" sz="1200" dirty="0"/>
          </a:p>
        </p:txBody>
      </p:sp>
      <p:sp>
        <p:nvSpPr>
          <p:cNvPr id="12" name="Shape 10"/>
          <p:cNvSpPr/>
          <p:nvPr/>
        </p:nvSpPr>
        <p:spPr>
          <a:xfrm>
            <a:off x="5120640" y="3063240"/>
            <a:ext cx="3703320" cy="685800"/>
          </a:xfrm>
          <a:prstGeom prst="roundRect">
            <a:avLst>
              <a:gd name="adj" fmla="val 10667"/>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5230368" y="3154680"/>
            <a:ext cx="3483864" cy="50292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LAYOUT PRIMARY lab1</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SYSTEM GDSII</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PATH "/home/student/work/lab1.gds"</a:t>
            </a:r>
            <a:endParaRPr lang="en-US" sz="1050" dirty="0"/>
          </a:p>
        </p:txBody>
      </p:sp>
      <p:sp>
        <p:nvSpPr>
          <p:cNvPr id="14" name="Shape 12"/>
          <p:cNvSpPr/>
          <p:nvPr/>
        </p:nvSpPr>
        <p:spPr>
          <a:xfrm>
            <a:off x="320040" y="4224528"/>
            <a:ext cx="8503920" cy="777240"/>
          </a:xfrm>
          <a:prstGeom prst="roundRect">
            <a:avLst>
              <a:gd name="adj" fmla="val 9412"/>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429768" y="4315968"/>
            <a:ext cx="8284464" cy="59436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LAYOUT PRIMARY lab1    // ← top cell</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SYSTEM GDSII    // ← format</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PATH "..."      // ← THIS step</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RESULTS DATABASE lab1.drc.results ASCII</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INCLUDE "drc.rules"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Step 3 — Specify Output Information</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4114800" cy="2011680"/>
          </a:xfrm>
          <a:prstGeom prst="roundRect">
            <a:avLst>
              <a:gd name="adj" fmla="val 4545"/>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987552"/>
            <a:ext cx="3749040" cy="347472"/>
          </a:xfrm>
          <a:prstGeom prst="rect">
            <a:avLst/>
          </a:prstGeom>
          <a:noFill/>
          <a:ln/>
        </p:spPr>
        <p:txBody>
          <a:bodyPr wrap="square"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A) DRC Results Database</a:t>
            </a:r>
            <a:endParaRPr lang="en-US" sz="1300" dirty="0"/>
          </a:p>
        </p:txBody>
      </p:sp>
      <p:sp>
        <p:nvSpPr>
          <p:cNvPr id="6" name="Text 4"/>
          <p:cNvSpPr/>
          <p:nvPr/>
        </p:nvSpPr>
        <p:spPr>
          <a:xfrm>
            <a:off x="502920" y="1417320"/>
            <a:ext cx="3749040" cy="1371600"/>
          </a:xfrm>
          <a:prstGeom prst="rect">
            <a:avLst/>
          </a:prstGeom>
          <a:noFill/>
          <a:ln/>
        </p:spPr>
        <p:txBody>
          <a:bodyPr wrap="square" rtlCol="0" anchor="t"/>
          <a:lstStyle/>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Primary output — contains all violations with exact coordinates</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Format: ASCII (human-readable) or binary</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File: e.g. lab1.drc.results</a:t>
            </a:r>
            <a:endParaRPr lang="en-US" sz="1150" dirty="0"/>
          </a:p>
        </p:txBody>
      </p:sp>
      <p:sp>
        <p:nvSpPr>
          <p:cNvPr id="7" name="Shape 5"/>
          <p:cNvSpPr/>
          <p:nvPr/>
        </p:nvSpPr>
        <p:spPr>
          <a:xfrm>
            <a:off x="4709160" y="914400"/>
            <a:ext cx="4114800" cy="2011680"/>
          </a:xfrm>
          <a:prstGeom prst="roundRect">
            <a:avLst>
              <a:gd name="adj" fmla="val 4545"/>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892040" y="987552"/>
            <a:ext cx="3749040" cy="347472"/>
          </a:xfrm>
          <a:prstGeom prst="rect">
            <a:avLst/>
          </a:prstGeom>
          <a:noFill/>
          <a:ln/>
        </p:spPr>
        <p:txBody>
          <a:bodyPr wrap="square"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B) DRC Summary Report (optional)</a:t>
            </a:r>
            <a:endParaRPr lang="en-US" sz="1300" dirty="0"/>
          </a:p>
        </p:txBody>
      </p:sp>
      <p:sp>
        <p:nvSpPr>
          <p:cNvPr id="9" name="Text 7"/>
          <p:cNvSpPr/>
          <p:nvPr/>
        </p:nvSpPr>
        <p:spPr>
          <a:xfrm>
            <a:off x="4892040" y="1417320"/>
            <a:ext cx="3749040" cy="1371600"/>
          </a:xfrm>
          <a:prstGeom prst="rect">
            <a:avLst/>
          </a:prstGeom>
          <a:noFill/>
          <a:ln/>
        </p:spPr>
        <p:txBody>
          <a:bodyPr wrap="square" rtlCol="0" anchor="t"/>
          <a:lstStyle/>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Enable: check DRC Summary Report in Outputs pane</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File: e.g. lab1.drc.summary</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Set Previous contents to REPLACE to overwrite each run</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Optionally auto-open after run finishes</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3063240"/>
          <a:ext cx="8503920" cy="1051560"/>
        </p:xfrm>
        <a:graphic>
          <a:graphicData uri="http://schemas.openxmlformats.org/drawingml/2006/table">
            <a:tbl>
              <a:tblPr/>
              <a:tblGrid>
                <a:gridCol w="4251960"/>
                <a:gridCol w="4251960"/>
              </a:tblGrid>
              <a:tr h="25603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Option</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r>
              <a:tr h="256032">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Output cell errors in cell space</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Report errors in the cell's own coordinate system (recommended)</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256032">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Side RDBs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Create extra results databases for specific checks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256032">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Create HTML Report</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Generate a web-browser-friendly version of results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bl>
          </a:graphicData>
        </a:graphic>
      </p:graphicFrame>
      <p:sp>
        <p:nvSpPr>
          <p:cNvPr id="11" name="Shape 8"/>
          <p:cNvSpPr/>
          <p:nvPr/>
        </p:nvSpPr>
        <p:spPr>
          <a:xfrm>
            <a:off x="320040" y="4206240"/>
            <a:ext cx="8503920" cy="731520"/>
          </a:xfrm>
          <a:prstGeom prst="roundRect">
            <a:avLst>
              <a:gd name="adj" fmla="val 10000"/>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2" name="Text 9"/>
          <p:cNvSpPr/>
          <p:nvPr/>
        </p:nvSpPr>
        <p:spPr>
          <a:xfrm>
            <a:off x="429768" y="4297680"/>
            <a:ext cx="8284464" cy="54864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DRC RESULTS DATABASE lab1.drc.results ASCII   // ← THIS step</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SUMMARY REPORT lab1.drc.summary           // ← THIS step</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Step 4 — Specify nmDRC Options</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4114800" cy="3200400"/>
          </a:xfrm>
          <a:prstGeom prst="roundRect">
            <a:avLst>
              <a:gd name="adj" fmla="val 285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37490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Accessing Options in the GUI:</a:t>
            </a:r>
            <a:endParaRPr lang="en-US" sz="1200" dirty="0"/>
          </a:p>
        </p:txBody>
      </p:sp>
      <p:sp>
        <p:nvSpPr>
          <p:cNvPr id="6" name="Text 4"/>
          <p:cNvSpPr/>
          <p:nvPr/>
        </p:nvSpPr>
        <p:spPr>
          <a:xfrm>
            <a:off x="502920" y="1417320"/>
            <a:ext cx="3749040" cy="256032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Settings → Show Pages → Options (makes Options visible)</a:t>
            </a:r>
            <a:endParaRPr lang="en-US" sz="1200" dirty="0"/>
          </a:p>
          <a:p>
            <a:pPr marL="342900" indent="-342900">
              <a:spcAft>
                <a:spcPts val="8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Click Options in the left navigation panel</a:t>
            </a:r>
            <a:endParaRPr lang="en-US" sz="1200" dirty="0"/>
          </a:p>
          <a:p>
            <a:pPr marL="342900" indent="-342900">
              <a:spcAft>
                <a:spcPts val="8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Select the desired tab inside the Options pane</a:t>
            </a:r>
            <a:endParaRPr lang="en-US" sz="1200" dirty="0"/>
          </a:p>
          <a:p>
            <a:pPr marL="342900" indent="-342900">
              <a:spcAft>
                <a:spcPts val="8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Set values and click Run DRC</a:t>
            </a:r>
            <a:endParaRPr lang="en-US" sz="1200" dirty="0"/>
          </a:p>
        </p:txBody>
      </p:sp>
      <p:sp>
        <p:nvSpPr>
          <p:cNvPr id="7" name="Shape 5"/>
          <p:cNvSpPr/>
          <p:nvPr/>
        </p:nvSpPr>
        <p:spPr>
          <a:xfrm>
            <a:off x="4709160" y="914400"/>
            <a:ext cx="4114800" cy="2286000"/>
          </a:xfrm>
          <a:prstGeom prst="roundRect">
            <a:avLst>
              <a:gd name="adj" fmla="val 4000"/>
            </a:avLst>
          </a:prstGeom>
          <a:solidFill>
            <a:srgbClr val="FFF8E1"/>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892040" y="1005840"/>
            <a:ext cx="3749040" cy="347472"/>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Example — DRC Maximum Results</a:t>
            </a:r>
            <a:endParaRPr lang="en-US" sz="1200" dirty="0"/>
          </a:p>
        </p:txBody>
      </p:sp>
      <p:sp>
        <p:nvSpPr>
          <p:cNvPr id="9" name="Text 7"/>
          <p:cNvSpPr/>
          <p:nvPr/>
        </p:nvSpPr>
        <p:spPr>
          <a:xfrm>
            <a:off x="4892040" y="1417320"/>
            <a:ext cx="3749040" cy="160020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Limits how many violations are stored per rule check. Default = 1000.</a:t>
            </a:r>
            <a:endParaRPr lang="en-US" sz="1100" dirty="0"/>
          </a:p>
          <a:p>
            <a:pPr indent="0" marL="0">
              <a:buNone/>
            </a:pP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Why? If a systematic error causes 500,000 violations of the same rule, storing all of them wastes disk space. 1000 representative examples are enough to find and fix the root cause.</a:t>
            </a:r>
            <a:endParaRPr lang="en-US" sz="1100" dirty="0"/>
          </a:p>
        </p:txBody>
      </p:sp>
      <p:sp>
        <p:nvSpPr>
          <p:cNvPr id="10" name="Shape 8"/>
          <p:cNvSpPr/>
          <p:nvPr/>
        </p:nvSpPr>
        <p:spPr>
          <a:xfrm>
            <a:off x="4709160" y="3291840"/>
            <a:ext cx="4114800" cy="502920"/>
          </a:xfrm>
          <a:prstGeom prst="roundRect">
            <a:avLst>
              <a:gd name="adj" fmla="val 14545"/>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818888" y="3383280"/>
            <a:ext cx="3895344" cy="32004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DRC MAXIMUM RESULTS 1000</a:t>
            </a:r>
            <a:endParaRPr lang="en-US" sz="1050" dirty="0"/>
          </a:p>
        </p:txBody>
      </p:sp>
      <p:sp>
        <p:nvSpPr>
          <p:cNvPr id="12" name="Shape 10"/>
          <p:cNvSpPr/>
          <p:nvPr/>
        </p:nvSpPr>
        <p:spPr>
          <a:xfrm>
            <a:off x="320040" y="4206240"/>
            <a:ext cx="8503920" cy="731520"/>
          </a:xfrm>
          <a:prstGeom prst="roundRect">
            <a:avLst>
              <a:gd name="adj" fmla="val 12500"/>
            </a:avLst>
          </a:prstGeom>
          <a:solidFill>
            <a:srgbClr val="FFF0F0"/>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502920" y="4297680"/>
            <a:ext cx="8138160" cy="548640"/>
          </a:xfrm>
          <a:prstGeom prst="rect">
            <a:avLst/>
          </a:prstGeom>
          <a:noFill/>
          <a:ln/>
        </p:spPr>
        <p:txBody>
          <a:bodyPr wrap="square" rtlCol="0" anchor="ctr"/>
          <a:lstStyle/>
          <a:p>
            <a:pPr indent="0" marL="0">
              <a:buNone/>
            </a:pPr>
            <a:r>
              <a:rPr lang="en-US" sz="1100" dirty="0">
                <a:solidFill>
                  <a:srgbClr val="E03C31"/>
                </a:solidFill>
                <a:latin typeface="Calibri" pitchFamily="34" charset="0"/>
                <a:ea typeface="Calibri" pitchFamily="34" charset="-122"/>
                <a:cs typeface="Calibri" pitchFamily="34" charset="-120"/>
              </a:rPr>
              <a:t>⚠️  Not all SVRF options are available in the GUI. If you cannot find an option in the Options pane, consult the SVRF Reference Manual and add it directly to your runset file.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Step 5 — Include Another SVRF File</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5029200" cy="2560320"/>
          </a:xfrm>
          <a:prstGeom prst="roundRect">
            <a:avLst>
              <a:gd name="adj" fmla="val 3571"/>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46634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Why include multiple rule files?</a:t>
            </a:r>
            <a:endParaRPr lang="en-US" sz="1200" dirty="0"/>
          </a:p>
        </p:txBody>
      </p:sp>
      <p:sp>
        <p:nvSpPr>
          <p:cNvPr id="6" name="Text 4"/>
          <p:cNvSpPr/>
          <p:nvPr/>
        </p:nvSpPr>
        <p:spPr>
          <a:xfrm>
            <a:off x="502920" y="1371600"/>
            <a:ext cx="4663440" cy="1005840"/>
          </a:xfrm>
          <a:prstGeom prst="rect">
            <a:avLst/>
          </a:prstGeom>
          <a:noFill/>
          <a:ln/>
        </p:spPr>
        <p:txBody>
          <a:bodyPr wrap="square" rtlCol="0" anchor="ctr"/>
          <a:lstStyle/>
          <a:p>
            <a:pPr indent="0" marL="0">
              <a:buNone/>
            </a:pPr>
            <a:r>
              <a:rPr lang="en-US" sz="1200" dirty="0">
                <a:solidFill>
                  <a:srgbClr val="1A2B3C"/>
                </a:solidFill>
                <a:latin typeface="Calibri" pitchFamily="34" charset="0"/>
                <a:ea typeface="Calibri" pitchFamily="34" charset="-122"/>
                <a:cs typeface="Calibri" pitchFamily="34" charset="-120"/>
              </a:rPr>
              <a:t>Foundries often split rules across multiple files — a main drc.rules file plus supplemental golden_rules files. You can include as many as needed; they are processed in order, top to bottom.</a:t>
            </a:r>
            <a:endParaRPr lang="en-US" sz="1200" dirty="0"/>
          </a:p>
        </p:txBody>
      </p:sp>
      <p:sp>
        <p:nvSpPr>
          <p:cNvPr id="7" name="Text 5"/>
          <p:cNvSpPr/>
          <p:nvPr/>
        </p:nvSpPr>
        <p:spPr>
          <a:xfrm>
            <a:off x="502920" y="2468880"/>
            <a:ext cx="46634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In the GUI — Options pane:</a:t>
            </a:r>
            <a:endParaRPr lang="en-US" sz="1200" dirty="0"/>
          </a:p>
        </p:txBody>
      </p:sp>
      <p:sp>
        <p:nvSpPr>
          <p:cNvPr id="8" name="Text 6"/>
          <p:cNvSpPr/>
          <p:nvPr/>
        </p:nvSpPr>
        <p:spPr>
          <a:xfrm>
            <a:off x="502920" y="2834640"/>
            <a:ext cx="4663440" cy="1188720"/>
          </a:xfrm>
          <a:prstGeom prst="rect">
            <a:avLst/>
          </a:prstGeom>
          <a:noFill/>
          <a:ln/>
        </p:spPr>
        <p:txBody>
          <a:bodyPr wrap="square" rtlCol="0" anchor="t"/>
          <a:lstStyle/>
          <a:p>
            <a:pPr marL="342900" indent="-342900">
              <a:spcAft>
                <a:spcPts val="5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Open the Options pane</a:t>
            </a:r>
            <a:endParaRPr lang="en-US" sz="1150" dirty="0"/>
          </a:p>
          <a:p>
            <a:pPr marL="342900" indent="-342900">
              <a:spcAft>
                <a:spcPts val="5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Scroll to Include Rules Files and check the checkbox ✓</a:t>
            </a:r>
            <a:endParaRPr lang="en-US" sz="1150" dirty="0"/>
          </a:p>
          <a:p>
            <a:pPr marL="342900" indent="-342900">
              <a:spcAft>
                <a:spcPts val="5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Type the additional file name (e.g. golden_rules) or browse to it</a:t>
            </a:r>
            <a:endParaRPr lang="en-US" sz="1150" dirty="0"/>
          </a:p>
        </p:txBody>
      </p:sp>
      <p:sp>
        <p:nvSpPr>
          <p:cNvPr id="9" name="Shape 7"/>
          <p:cNvSpPr/>
          <p:nvPr/>
        </p:nvSpPr>
        <p:spPr>
          <a:xfrm>
            <a:off x="5577840" y="914400"/>
            <a:ext cx="3246120" cy="1280160"/>
          </a:xfrm>
          <a:prstGeom prst="roundRect">
            <a:avLst>
              <a:gd name="adj" fmla="val 7143"/>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760720" y="1005840"/>
            <a:ext cx="288036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Equivalent SVRF command:</a:t>
            </a:r>
            <a:endParaRPr lang="en-US" sz="1200" dirty="0"/>
          </a:p>
        </p:txBody>
      </p:sp>
      <p:sp>
        <p:nvSpPr>
          <p:cNvPr id="11" name="Shape 9"/>
          <p:cNvSpPr/>
          <p:nvPr/>
        </p:nvSpPr>
        <p:spPr>
          <a:xfrm>
            <a:off x="5577840" y="1371600"/>
            <a:ext cx="3246120" cy="502920"/>
          </a:xfrm>
          <a:prstGeom prst="roundRect">
            <a:avLst>
              <a:gd name="adj" fmla="val 14545"/>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687568" y="1463040"/>
            <a:ext cx="3026664" cy="32004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INCLUDE "golden_rules"</a:t>
            </a:r>
            <a:endParaRPr lang="en-US" sz="1050" dirty="0"/>
          </a:p>
        </p:txBody>
      </p:sp>
      <p:sp>
        <p:nvSpPr>
          <p:cNvPr id="13" name="Shape 11"/>
          <p:cNvSpPr/>
          <p:nvPr/>
        </p:nvSpPr>
        <p:spPr>
          <a:xfrm>
            <a:off x="320040" y="4114800"/>
            <a:ext cx="8503920" cy="914400"/>
          </a:xfrm>
          <a:prstGeom prst="roundRect">
            <a:avLst>
              <a:gd name="adj" fmla="val 8000"/>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29768" y="4206240"/>
            <a:ext cx="8284464" cy="73152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INCLUDE "drc.rules"</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INCLUDE "golden_rules"   // ← THIS step</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MAXIMUM RESULTS 1000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Step 6 — Execute the nmDRC Job</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3200400" cy="2194560"/>
          </a:xfrm>
          <a:prstGeom prst="roundRect">
            <a:avLst>
              <a:gd name="adj" fmla="val 4167"/>
            </a:avLst>
          </a:prstGeom>
          <a:solidFill>
            <a:srgbClr val="E0F7F5"/>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51560"/>
            <a:ext cx="2834640" cy="457200"/>
          </a:xfrm>
          <a:prstGeom prst="rect">
            <a:avLst/>
          </a:prstGeom>
          <a:noFill/>
          <a:ln/>
        </p:spPr>
        <p:txBody>
          <a:bodyPr wrap="square" rtlCol="0" anchor="ctr"/>
          <a:lstStyle/>
          <a:p>
            <a:pPr algn="ctr" indent="0" marL="0">
              <a:buNone/>
            </a:pPr>
            <a:r>
              <a:rPr lang="en-US" sz="1800" b="1" dirty="0">
                <a:solidFill>
                  <a:srgbClr val="00A896"/>
                </a:solidFill>
                <a:latin typeface="Cambria" pitchFamily="34" charset="0"/>
                <a:ea typeface="Cambria" pitchFamily="34" charset="-122"/>
                <a:cs typeface="Cambria" pitchFamily="34" charset="-120"/>
              </a:rPr>
              <a:t>Click Run DRC</a:t>
            </a:r>
            <a:endParaRPr lang="en-US" sz="1800" dirty="0"/>
          </a:p>
        </p:txBody>
      </p:sp>
      <p:sp>
        <p:nvSpPr>
          <p:cNvPr id="6" name="Text 4"/>
          <p:cNvSpPr/>
          <p:nvPr/>
        </p:nvSpPr>
        <p:spPr>
          <a:xfrm>
            <a:off x="502920" y="1554480"/>
            <a:ext cx="2834640" cy="594360"/>
          </a:xfrm>
          <a:prstGeom prst="rect">
            <a:avLst/>
          </a:prstGeom>
          <a:noFill/>
          <a:ln/>
        </p:spPr>
        <p:txBody>
          <a:bodyPr wrap="square" rtlCol="0" anchor="ctr"/>
          <a:lstStyle/>
          <a:p>
            <a:pPr algn="ctr" indent="0" marL="0">
              <a:buNone/>
            </a:pPr>
            <a:r>
              <a:rPr lang="en-US" sz="1200" dirty="0">
                <a:solidFill>
                  <a:srgbClr val="1A2B3C"/>
                </a:solidFill>
                <a:latin typeface="Calibri" pitchFamily="34" charset="0"/>
                <a:ea typeface="Calibri" pitchFamily="34" charset="-122"/>
                <a:cs typeface="Calibri" pitchFamily="34" charset="-120"/>
              </a:rPr>
              <a:t>at the bottom of the left panel in Calibre Interactive.</a:t>
            </a:r>
            <a:endParaRPr lang="en-US" sz="1200" dirty="0"/>
          </a:p>
        </p:txBody>
      </p:sp>
      <p:sp>
        <p:nvSpPr>
          <p:cNvPr id="7" name="Text 5"/>
          <p:cNvSpPr/>
          <p:nvPr/>
        </p:nvSpPr>
        <p:spPr>
          <a:xfrm>
            <a:off x="502920" y="2240280"/>
            <a:ext cx="2834640" cy="594360"/>
          </a:xfrm>
          <a:prstGeom prst="rect">
            <a:avLst/>
          </a:prstGeom>
          <a:noFill/>
          <a:ln/>
        </p:spPr>
        <p:txBody>
          <a:bodyPr wrap="square" rtlCol="0" anchor="ctr"/>
          <a:lstStyle/>
          <a:p>
            <a:pPr algn="ctr" indent="0" marL="0">
              <a:buNone/>
            </a:pPr>
            <a:r>
              <a:rPr lang="en-US" sz="1100" dirty="0">
                <a:solidFill>
                  <a:srgbClr val="5C7A8A"/>
                </a:solidFill>
                <a:latin typeface="Courier New" pitchFamily="34" charset="0"/>
                <a:ea typeface="Courier New" pitchFamily="34" charset="-122"/>
                <a:cs typeface="Courier New" pitchFamily="34" charset="-120"/>
              </a:rPr>
              <a:t>Or from command line:</a:t>
            </a:r>
            <a:endParaRPr lang="en-US" sz="1100" dirty="0"/>
          </a:p>
          <a:p>
            <a:pPr algn="ctr" indent="0" marL="0">
              <a:buNone/>
            </a:pPr>
            <a:r>
              <a:rPr lang="en-US" sz="1100" dirty="0">
                <a:solidFill>
                  <a:srgbClr val="5C7A8A"/>
                </a:solidFill>
                <a:latin typeface="Courier New" pitchFamily="34" charset="0"/>
                <a:ea typeface="Courier New" pitchFamily="34" charset="-122"/>
                <a:cs typeface="Courier New" pitchFamily="34" charset="-120"/>
              </a:rPr>
              <a:t>calibre -drc -hier my_runset.svrf</a:t>
            </a:r>
            <a:endParaRPr lang="en-US" sz="1100" dirty="0"/>
          </a:p>
        </p:txBody>
      </p:sp>
      <p:sp>
        <p:nvSpPr>
          <p:cNvPr id="8" name="Shape 6"/>
          <p:cNvSpPr/>
          <p:nvPr/>
        </p:nvSpPr>
        <p:spPr>
          <a:xfrm>
            <a:off x="3749040" y="914400"/>
            <a:ext cx="5074920" cy="2194560"/>
          </a:xfrm>
          <a:prstGeom prst="roundRect">
            <a:avLst>
              <a:gd name="adj" fmla="val 416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931920" y="1005840"/>
            <a:ext cx="470916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What happens after clicking Run DRC:</a:t>
            </a:r>
            <a:endParaRPr lang="en-US" sz="1200" dirty="0"/>
          </a:p>
        </p:txBody>
      </p:sp>
      <p:sp>
        <p:nvSpPr>
          <p:cNvPr id="10" name="Text 8"/>
          <p:cNvSpPr/>
          <p:nvPr/>
        </p:nvSpPr>
        <p:spPr>
          <a:xfrm>
            <a:off x="3931920" y="1417320"/>
            <a:ext cx="4709160" cy="1554480"/>
          </a:xfrm>
          <a:prstGeom prst="rect">
            <a:avLst/>
          </a:prstGeom>
          <a:noFill/>
          <a:ln/>
        </p:spPr>
        <p:txBody>
          <a:bodyPr wrap="square" rtlCol="0" anchor="t"/>
          <a:lstStyle/>
          <a:p>
            <a:pPr marL="342900" indent="-342900">
              <a:spcAft>
                <a:spcPts val="600"/>
              </a:spcAft>
              <a:buSzPct val="100000"/>
              <a:buChar char="•"/>
            </a:pPr>
            <a:r>
              <a:rPr lang="en-US" sz="1200" dirty="0">
                <a:solidFill>
                  <a:srgbClr val="1A2B3C"/>
                </a:solidFill>
                <a:latin typeface="Calibri" pitchFamily="34" charset="0"/>
                <a:ea typeface="Calibri" pitchFamily="34" charset="-122"/>
                <a:cs typeface="Calibri" pitchFamily="34" charset="-120"/>
              </a:rPr>
              <a:t>Transcript pane opens and shows the live run log</a:t>
            </a:r>
            <a:endParaRPr lang="en-US" sz="1200" dirty="0"/>
          </a:p>
          <a:p>
            <a:pPr marL="342900" indent="-342900">
              <a:spcAft>
                <a:spcPts val="600"/>
              </a:spcAft>
              <a:buSzPct val="100000"/>
              <a:buChar char="•"/>
            </a:pPr>
            <a:r>
              <a:rPr lang="en-US" sz="1200" dirty="0">
                <a:solidFill>
                  <a:srgbClr val="1A2B3C"/>
                </a:solidFill>
                <a:latin typeface="Calibri" pitchFamily="34" charset="0"/>
                <a:ea typeface="Calibri" pitchFamily="34" charset="-122"/>
                <a:cs typeface="Calibri" pitchFamily="34" charset="-120"/>
              </a:rPr>
              <a:t>Summary line appears when complete: 0 Errors, 1 Warning, 1 Info</a:t>
            </a:r>
            <a:endParaRPr lang="en-US" sz="1200" dirty="0"/>
          </a:p>
          <a:p>
            <a:pPr marL="342900" indent="-342900">
              <a:spcAft>
                <a:spcPts val="600"/>
              </a:spcAft>
              <a:buSzPct val="100000"/>
              <a:buChar char="•"/>
            </a:pPr>
            <a:r>
              <a:rPr lang="en-US" sz="1200" dirty="0">
                <a:solidFill>
                  <a:srgbClr val="1A2B3C"/>
                </a:solidFill>
                <a:latin typeface="Calibri" pitchFamily="34" charset="0"/>
                <a:ea typeface="Calibri" pitchFamily="34" charset="-122"/>
                <a:cs typeface="Calibri" pitchFamily="34" charset="-120"/>
              </a:rPr>
              <a:t>Results database is written to the path you specified</a:t>
            </a:r>
            <a:endParaRPr lang="en-US" sz="1200" dirty="0"/>
          </a:p>
          <a:p>
            <a:pPr marL="342900" indent="-342900">
              <a:spcAft>
                <a:spcPts val="600"/>
              </a:spcAft>
              <a:buSzPct val="100000"/>
              <a:buChar char="•"/>
            </a:pPr>
            <a:r>
              <a:rPr lang="en-US" sz="1200" dirty="0">
                <a:solidFill>
                  <a:srgbClr val="1A2B3C"/>
                </a:solidFill>
                <a:latin typeface="Calibri" pitchFamily="34" charset="0"/>
                <a:ea typeface="Calibri" pitchFamily="34" charset="-122"/>
                <a:cs typeface="Calibri" pitchFamily="34" charset="-120"/>
              </a:rPr>
              <a:t>Summary report opens automatically (if enabled)</a:t>
            </a:r>
            <a:endParaRPr lang="en-US" sz="1200" dirty="0"/>
          </a:p>
        </p:txBody>
      </p:sp>
      <p:sp>
        <p:nvSpPr>
          <p:cNvPr id="11" name="Text 9"/>
          <p:cNvSpPr/>
          <p:nvPr/>
        </p:nvSpPr>
        <p:spPr>
          <a:xfrm>
            <a:off x="320040" y="3246120"/>
            <a:ext cx="502920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Key statistics at end of transcript:</a:t>
            </a:r>
            <a:endParaRPr lang="en-US" sz="1200" dirty="0"/>
          </a:p>
        </p:txBody>
      </p:sp>
      <p:sp>
        <p:nvSpPr>
          <p:cNvPr id="12" name="Shape 10"/>
          <p:cNvSpPr/>
          <p:nvPr/>
        </p:nvSpPr>
        <p:spPr>
          <a:xfrm>
            <a:off x="320040" y="3657600"/>
            <a:ext cx="5074920" cy="868680"/>
          </a:xfrm>
          <a:prstGeom prst="roundRect">
            <a:avLst>
              <a:gd name="adj" fmla="val 8421"/>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29768" y="3749040"/>
            <a:ext cx="4855464" cy="68580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 TOTAL RULECHECKS EXECUTED = 11</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TOTAL RESULTS GENERATED = 57 (230)</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DRC RESULTS DATABASE FILE = lab1.drc.results (ASCII)</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40680" y="3246120"/>
          <a:ext cx="3383280" cy="1280160"/>
        </p:xfrm>
        <a:graphic>
          <a:graphicData uri="http://schemas.openxmlformats.org/drawingml/2006/table">
            <a:tbl>
              <a:tblPr/>
              <a:tblGrid>
                <a:gridCol w="1691640"/>
                <a:gridCol w="169164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r>
              <a:tr h="320040">
                <a:tc>
                  <a:txBody>
                    <a:bodyPr/>
                    <a:lstStyle/>
                    <a:p>
                      <a:pPr indent="0" marL="0">
                        <a:buNone/>
                      </a:pPr>
                      <a:r>
                        <a:rPr lang="en-US" sz="1050" dirty="0">
                          <a:solidFill>
                            <a:srgbClr val="1A2B3C"/>
                          </a:solidFill>
                          <a:latin typeface="Calibri" pitchFamily="34" charset="0"/>
                          <a:ea typeface="Calibri" pitchFamily="34" charset="-122"/>
                          <a:cs typeface="Calibri" pitchFamily="34" charset="-120"/>
                        </a:rPr>
                        <a:t>TOTAL RULECHECKS EXECUTED</a:t>
                      </a:r>
                      <a:endParaRPr lang="en-US" sz="105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050" dirty="0">
                          <a:solidFill>
                            <a:srgbClr val="1A2B3C"/>
                          </a:solidFill>
                          <a:latin typeface="Calibri" pitchFamily="34" charset="0"/>
                          <a:ea typeface="Calibri" pitchFamily="34" charset="-122"/>
                          <a:cs typeface="Calibri" pitchFamily="34" charset="-120"/>
                        </a:rPr>
                        <a:t>Number of individual rules checked</a:t>
                      </a:r>
                      <a:endParaRPr lang="en-US" sz="105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20040">
                <a:tc>
                  <a:txBody>
                    <a:bodyPr/>
                    <a:lstStyle/>
                    <a:p>
                      <a:pPr indent="0" marL="0">
                        <a:buNone/>
                      </a:pPr>
                      <a:r>
                        <a:rPr lang="en-US" sz="1050" dirty="0">
                          <a:solidFill>
                            <a:srgbClr val="1A2B3C"/>
                          </a:solidFill>
                          <a:latin typeface="Calibri" pitchFamily="34" charset="0"/>
                          <a:ea typeface="Calibri" pitchFamily="34" charset="-122"/>
                          <a:cs typeface="Calibri" pitchFamily="34" charset="-120"/>
                        </a:rPr>
                        <a:t>RESULTS GENERATED = 57 (230)</a:t>
                      </a:r>
                      <a:endParaRPr lang="en-US" sz="105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050" dirty="0">
                          <a:solidFill>
                            <a:srgbClr val="1A2B3C"/>
                          </a:solidFill>
                          <a:latin typeface="Calibri" pitchFamily="34" charset="0"/>
                          <a:ea typeface="Calibri" pitchFamily="34" charset="-122"/>
                          <a:cs typeface="Calibri" pitchFamily="34" charset="-120"/>
                        </a:rPr>
                        <a:t>57 stored; 230 actual count before the limit</a:t>
                      </a:r>
                      <a:endParaRPr lang="en-US" sz="105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20040">
                <a:tc>
                  <a:txBody>
                    <a:bodyPr/>
                    <a:lstStyle/>
                    <a:p>
                      <a:pPr indent="0" marL="0">
                        <a:buNone/>
                      </a:pPr>
                      <a:r>
                        <a:rPr lang="en-US" sz="1050" dirty="0">
                          <a:solidFill>
                            <a:srgbClr val="1A2B3C"/>
                          </a:solidFill>
                          <a:latin typeface="Calibri" pitchFamily="34" charset="0"/>
                          <a:ea typeface="Calibri" pitchFamily="34" charset="-122"/>
                          <a:cs typeface="Calibri" pitchFamily="34" charset="-120"/>
                        </a:rPr>
                        <a:t>DRC RESULTS DATABASE FILE</a:t>
                      </a:r>
                      <a:endParaRPr lang="en-US" sz="105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050" dirty="0">
                          <a:solidFill>
                            <a:srgbClr val="1A2B3C"/>
                          </a:solidFill>
                          <a:latin typeface="Calibri" pitchFamily="34" charset="0"/>
                          <a:ea typeface="Calibri" pitchFamily="34" charset="-122"/>
                          <a:cs typeface="Calibri" pitchFamily="34" charset="-120"/>
                        </a:rPr>
                        <a:t>Confirms output file path and format</a:t>
                      </a:r>
                      <a:endParaRPr lang="en-US" sz="105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A896"/>
          </a:solidFill>
          <a:ln w="12700">
            <a:solidFill>
              <a:srgbClr val="00A896"/>
            </a:solidFill>
            <a:prstDash val="solid"/>
          </a:ln>
        </p:spPr>
      </p:sp>
      <p:sp>
        <p:nvSpPr>
          <p:cNvPr id="3" name="Text 1"/>
          <p:cNvSpPr/>
          <p:nvPr/>
        </p:nvSpPr>
        <p:spPr>
          <a:xfrm>
            <a:off x="411480" y="1371600"/>
            <a:ext cx="8321040" cy="457200"/>
          </a:xfrm>
          <a:prstGeom prst="rect">
            <a:avLst/>
          </a:prstGeom>
          <a:noFill/>
          <a:ln/>
        </p:spPr>
        <p:txBody>
          <a:bodyPr wrap="square" rtlCol="0" anchor="ctr"/>
          <a:lstStyle/>
          <a:p>
            <a:pPr algn="l" indent="0" marL="0">
              <a:buNone/>
            </a:pPr>
            <a:r>
              <a:rPr lang="en-US" sz="1300" b="1" spc="400" kern="0" dirty="0">
                <a:solidFill>
                  <a:srgbClr val="00A896"/>
                </a:solidFill>
                <a:latin typeface="Calibri" pitchFamily="34" charset="0"/>
                <a:ea typeface="Calibri" pitchFamily="34" charset="-122"/>
                <a:cs typeface="Calibri" pitchFamily="34" charset="-120"/>
              </a:rPr>
              <a:t>PART 02</a:t>
            </a:r>
            <a:endParaRPr lang="en-US" sz="1300" dirty="0"/>
          </a:p>
        </p:txBody>
      </p:sp>
      <p:sp>
        <p:nvSpPr>
          <p:cNvPr id="4" name="Text 2"/>
          <p:cNvSpPr/>
          <p:nvPr/>
        </p:nvSpPr>
        <p:spPr>
          <a:xfrm>
            <a:off x="411480" y="1920240"/>
            <a:ext cx="8321040" cy="1463040"/>
          </a:xfrm>
          <a:prstGeom prst="rect">
            <a:avLst/>
          </a:prstGeom>
          <a:noFill/>
          <a:ln/>
        </p:spPr>
        <p:txBody>
          <a:bodyPr wrap="square"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DRC Output Results</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Part 2 — Objectives</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8503920" cy="3840480"/>
          </a:xfrm>
          <a:prstGeom prst="roundRect">
            <a:avLst>
              <a:gd name="adj" fmla="val 2381"/>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1051560"/>
            <a:ext cx="8046720" cy="365760"/>
          </a:xfrm>
          <a:prstGeom prst="rect">
            <a:avLst/>
          </a:prstGeom>
          <a:noFill/>
          <a:ln/>
        </p:spPr>
        <p:txBody>
          <a:bodyPr wrap="square" rtlCol="0" anchor="ctr"/>
          <a:lstStyle/>
          <a:p>
            <a:pPr indent="0" marL="0">
              <a:buNone/>
            </a:pPr>
            <a:r>
              <a:rPr lang="en-US" sz="1400" i="1" dirty="0">
                <a:solidFill>
                  <a:srgbClr val="5C7A8A"/>
                </a:solidFill>
                <a:latin typeface="Calibri" pitchFamily="34" charset="0"/>
                <a:ea typeface="Calibri" pitchFamily="34" charset="-122"/>
                <a:cs typeface="Calibri" pitchFamily="34" charset="-120"/>
              </a:rPr>
              <a:t>After the job finishes, there are three output review tasks:</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321040" cy="1645920"/>
        </p:xfrm>
        <a:graphic>
          <a:graphicData uri="http://schemas.openxmlformats.org/drawingml/2006/table">
            <a:tbl>
              <a:tblPr/>
              <a:tblGrid>
                <a:gridCol w="2773680"/>
                <a:gridCol w="2773680"/>
                <a:gridCol w="277368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learn</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r>
              <a:tr h="402336">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Review the Transcript</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Terminal or GUI Transcript pane</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Execution details, warnings, timing, expansion info</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402336">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Review DRC Summary Report</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Text editor or GUI Files pane</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Which rules were checked and how many violations each has</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402336">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View results in RVE</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Calibre RVE</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Interactive graphical error browser with layout cross-probing</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Review the Transcript</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4114800" cy="1554480"/>
          </a:xfrm>
          <a:prstGeom prst="roundRect">
            <a:avLst>
              <a:gd name="adj" fmla="val 5882"/>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37490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Two places to read the transcript:</a:t>
            </a:r>
            <a:endParaRPr lang="en-US" sz="1200" dirty="0"/>
          </a:p>
        </p:txBody>
      </p:sp>
      <p:sp>
        <p:nvSpPr>
          <p:cNvPr id="6" name="Text 4"/>
          <p:cNvSpPr/>
          <p:nvPr/>
        </p:nvSpPr>
        <p:spPr>
          <a:xfrm>
            <a:off x="502920" y="1389888"/>
            <a:ext cx="3749040" cy="1005840"/>
          </a:xfrm>
          <a:prstGeom prst="rect">
            <a:avLst/>
          </a:prstGeom>
          <a:noFill/>
          <a:ln/>
        </p:spPr>
        <p:txBody>
          <a:bodyPr wrap="square" rtlCol="0" anchor="t"/>
          <a:lstStyle/>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Command line run → prints to the terminal window</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GUI run → appears in the scrollable Transcript pane inside Calibre Interactive</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Both show identical content</a:t>
            </a:r>
            <a:endParaRPr lang="en-US" sz="1150" dirty="0"/>
          </a:p>
        </p:txBody>
      </p:sp>
      <p:sp>
        <p:nvSpPr>
          <p:cNvPr id="7" name="Shape 5"/>
          <p:cNvSpPr/>
          <p:nvPr/>
        </p:nvSpPr>
        <p:spPr>
          <a:xfrm>
            <a:off x="4663440" y="914400"/>
            <a:ext cx="4160520" cy="1554480"/>
          </a:xfrm>
          <a:prstGeom prst="roundRect">
            <a:avLst>
              <a:gd name="adj" fmla="val 5882"/>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846320" y="1005840"/>
            <a:ext cx="379476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What to search for:</a:t>
            </a:r>
            <a:endParaRPr lang="en-US" sz="1200" dirty="0"/>
          </a:p>
        </p:txBody>
      </p:sp>
      <p:sp>
        <p:nvSpPr>
          <p:cNvPr id="9" name="Text 7"/>
          <p:cNvSpPr/>
          <p:nvPr/>
        </p:nvSpPr>
        <p:spPr>
          <a:xfrm>
            <a:off x="4846320" y="1389888"/>
            <a:ext cx="3794760" cy="1005840"/>
          </a:xfrm>
          <a:prstGeom prst="rect">
            <a:avLst/>
          </a:prstGeom>
          <a:noFill/>
          <a:ln/>
        </p:spPr>
        <p:txBody>
          <a:bodyPr wrap="square" rtlCol="0" anchor="t"/>
          <a:lstStyle/>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ERROR or WARNING — find problems quickly</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RuleCheck COMPLETED — see result counts per check</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EXPANDING — identify expanded (flattened) cells</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TOTAL RESULTS GENERATED — end-of-run summary</a:t>
            </a:r>
            <a:endParaRPr lang="en-US" sz="1150" dirty="0"/>
          </a:p>
        </p:txBody>
      </p:sp>
      <p:sp>
        <p:nvSpPr>
          <p:cNvPr id="10" name="Shape 8"/>
          <p:cNvSpPr/>
          <p:nvPr/>
        </p:nvSpPr>
        <p:spPr>
          <a:xfrm>
            <a:off x="320040" y="2606040"/>
            <a:ext cx="8503920" cy="2377440"/>
          </a:xfrm>
          <a:prstGeom prst="roundRect">
            <a:avLst>
              <a:gd name="adj" fmla="val 3077"/>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29768" y="2697480"/>
            <a:ext cx="8284464" cy="219456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Layer active_CO::&lt;1&gt; DELETED -- LVHEAP = 1/3/4</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RuleCheck active_CO COMPLETED. Number of Results = 21</a:t>
            </a:r>
            <a:endParaRPr lang="en-US" sz="1050" dirty="0"/>
          </a:p>
          <a:p>
            <a:pPr indent="0" marL="0">
              <a:buNone/>
            </a:pP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TOTAL RULECHECKS EXECUTED = 2</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TOTAL RESULTS GENERATED = 23 (23)</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DRC RESULTS DATABASE FILE = demo_drc.db (ASCII)</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CALIBRE::DRC-H COMPLETED -- Wed Jan 19 13:04:20 2022</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PROCESSOR COUNT = 1</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Review the DRC Summary Report</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4114800" cy="1371600"/>
          </a:xfrm>
          <a:prstGeom prst="roundRect">
            <a:avLst>
              <a:gd name="adj" fmla="val 666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3749040" cy="347472"/>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1. Job Information</a:t>
            </a:r>
            <a:endParaRPr lang="en-US" sz="1200" dirty="0"/>
          </a:p>
        </p:txBody>
      </p:sp>
      <p:sp>
        <p:nvSpPr>
          <p:cNvPr id="6" name="Text 4"/>
          <p:cNvSpPr/>
          <p:nvPr/>
        </p:nvSpPr>
        <p:spPr>
          <a:xfrm>
            <a:off x="502920" y="1417320"/>
            <a:ext cx="3749040" cy="7772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Execution date/time, Calibre version, rule file name, layout path, top cell, max results, output file paths</a:t>
            </a:r>
            <a:endParaRPr lang="en-US" sz="1100" dirty="0"/>
          </a:p>
        </p:txBody>
      </p:sp>
      <p:sp>
        <p:nvSpPr>
          <p:cNvPr id="7" name="Shape 5"/>
          <p:cNvSpPr/>
          <p:nvPr/>
        </p:nvSpPr>
        <p:spPr>
          <a:xfrm>
            <a:off x="320040" y="2468880"/>
            <a:ext cx="4114800" cy="1371600"/>
          </a:xfrm>
          <a:prstGeom prst="roundRect">
            <a:avLst>
              <a:gd name="adj" fmla="val 666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2560320"/>
            <a:ext cx="3749040" cy="347472"/>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2. Runtime Warnings</a:t>
            </a:r>
            <a:endParaRPr lang="en-US" sz="1200" dirty="0"/>
          </a:p>
        </p:txBody>
      </p:sp>
      <p:sp>
        <p:nvSpPr>
          <p:cNvPr id="9" name="Text 7"/>
          <p:cNvSpPr/>
          <p:nvPr/>
        </p:nvSpPr>
        <p:spPr>
          <a:xfrm>
            <a:off x="502920" y="2971800"/>
            <a:ext cx="3749040" cy="7772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Any warnings generated during the run (e.g. memory tuning suggestions)</a:t>
            </a:r>
            <a:endParaRPr lang="en-US" sz="1100" dirty="0"/>
          </a:p>
        </p:txBody>
      </p:sp>
      <p:sp>
        <p:nvSpPr>
          <p:cNvPr id="10" name="Shape 8"/>
          <p:cNvSpPr/>
          <p:nvPr/>
        </p:nvSpPr>
        <p:spPr>
          <a:xfrm>
            <a:off x="4754880" y="914400"/>
            <a:ext cx="4114800" cy="1371600"/>
          </a:xfrm>
          <a:prstGeom prst="roundRect">
            <a:avLst>
              <a:gd name="adj" fmla="val 666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937760" y="1005840"/>
            <a:ext cx="3749040" cy="347472"/>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3. Layers Processed</a:t>
            </a:r>
            <a:endParaRPr lang="en-US" sz="1200" dirty="0"/>
          </a:p>
        </p:txBody>
      </p:sp>
      <p:sp>
        <p:nvSpPr>
          <p:cNvPr id="12" name="Text 10"/>
          <p:cNvSpPr/>
          <p:nvPr/>
        </p:nvSpPr>
        <p:spPr>
          <a:xfrm>
            <a:off x="4937760" y="1417320"/>
            <a:ext cx="3749040" cy="7772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Each input layer and the number of geometric shapes found on it</a:t>
            </a:r>
            <a:endParaRPr lang="en-US" sz="1100" dirty="0"/>
          </a:p>
        </p:txBody>
      </p:sp>
      <p:sp>
        <p:nvSpPr>
          <p:cNvPr id="13" name="Shape 11"/>
          <p:cNvSpPr/>
          <p:nvPr/>
        </p:nvSpPr>
        <p:spPr>
          <a:xfrm>
            <a:off x="4754880" y="2468880"/>
            <a:ext cx="4114800" cy="1371600"/>
          </a:xfrm>
          <a:prstGeom prst="roundRect">
            <a:avLst>
              <a:gd name="adj" fmla="val 666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937760" y="2560320"/>
            <a:ext cx="3749040" cy="347472"/>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4. RuleCheck Statistics</a:t>
            </a:r>
            <a:endParaRPr lang="en-US" sz="1200" dirty="0"/>
          </a:p>
        </p:txBody>
      </p:sp>
      <p:sp>
        <p:nvSpPr>
          <p:cNvPr id="15" name="Text 13"/>
          <p:cNvSpPr/>
          <p:nvPr/>
        </p:nvSpPr>
        <p:spPr>
          <a:xfrm>
            <a:off x="4937760" y="2971800"/>
            <a:ext cx="3749040" cy="7772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How many violations each rule check found, broken down by cell — the most important section</a:t>
            </a:r>
            <a:endParaRPr lang="en-US" sz="1100" dirty="0"/>
          </a:p>
        </p:txBody>
      </p:sp>
      <p:sp>
        <p:nvSpPr>
          <p:cNvPr id="16" name="Shape 14"/>
          <p:cNvSpPr/>
          <p:nvPr/>
        </p:nvSpPr>
        <p:spPr>
          <a:xfrm>
            <a:off x="320040" y="3977640"/>
            <a:ext cx="8503920" cy="1051560"/>
          </a:xfrm>
          <a:prstGeom prst="roundRect">
            <a:avLst>
              <a:gd name="adj" fmla="val 6957"/>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429768" y="4069080"/>
            <a:ext cx="8284464" cy="86868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RULECHECK active_CO ..... TOTAL Result Count = 21 (21)</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RULECHECK poly_CO ....... TOTAL Result Count = 2  (2)</a:t>
            </a:r>
            <a:endParaRPr lang="en-US" sz="1050" dirty="0"/>
          </a:p>
          <a:p>
            <a:pPr indent="0" marL="0">
              <a:buNone/>
            </a:pP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CELL TOP ... TOTAL Result Count = 23 (23)</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RULECHECK active_CO ... TOTAL Result Count = 23 (23)</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RULECHECK poly_CO ..... TOTAL Result Count = 2  (2)</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Invoke RVE to View DRC Results</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4114800" cy="2011680"/>
          </a:xfrm>
          <a:prstGeom prst="roundRect">
            <a:avLst>
              <a:gd name="adj" fmla="val 4545"/>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37490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From command line:</a:t>
            </a:r>
            <a:endParaRPr lang="en-US" sz="1200" dirty="0"/>
          </a:p>
        </p:txBody>
      </p:sp>
      <p:sp>
        <p:nvSpPr>
          <p:cNvPr id="6" name="Shape 4"/>
          <p:cNvSpPr/>
          <p:nvPr/>
        </p:nvSpPr>
        <p:spPr>
          <a:xfrm>
            <a:off x="320040" y="1371600"/>
            <a:ext cx="4114800" cy="1371600"/>
          </a:xfrm>
          <a:prstGeom prst="roundRect">
            <a:avLst>
              <a:gd name="adj" fmla="val 5333"/>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29768" y="1463040"/>
            <a:ext cx="3895344" cy="118872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grep "DRC RESULTS" demo.rules</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DRC RESULTS DATABASE demo_drc.db</a:t>
            </a:r>
            <a:endParaRPr lang="en-US" sz="1050" dirty="0"/>
          </a:p>
          <a:p>
            <a:pPr indent="0" marL="0">
              <a:buNone/>
            </a:pP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calibre -rve demo_drc.db</a:t>
            </a:r>
            <a:endParaRPr lang="en-US" sz="1050" dirty="0"/>
          </a:p>
        </p:txBody>
      </p:sp>
      <p:sp>
        <p:nvSpPr>
          <p:cNvPr id="8" name="Shape 6"/>
          <p:cNvSpPr/>
          <p:nvPr/>
        </p:nvSpPr>
        <p:spPr>
          <a:xfrm>
            <a:off x="4709160" y="914400"/>
            <a:ext cx="4114800" cy="2011680"/>
          </a:xfrm>
          <a:prstGeom prst="roundRect">
            <a:avLst>
              <a:gd name="adj" fmla="val 4545"/>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892040" y="1005840"/>
            <a:ext cx="37490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From Calibre Interactive GUI:</a:t>
            </a:r>
            <a:endParaRPr lang="en-US" sz="1200" dirty="0"/>
          </a:p>
        </p:txBody>
      </p:sp>
      <p:sp>
        <p:nvSpPr>
          <p:cNvPr id="10" name="Text 8"/>
          <p:cNvSpPr/>
          <p:nvPr/>
        </p:nvSpPr>
        <p:spPr>
          <a:xfrm>
            <a:off x="4892040" y="1417320"/>
            <a:ext cx="3749040" cy="1371600"/>
          </a:xfrm>
          <a:prstGeom prst="rect">
            <a:avLst/>
          </a:prstGeom>
          <a:noFill/>
          <a:ln/>
        </p:spPr>
        <p:txBody>
          <a:bodyPr wrap="square" rtlCol="0" anchor="t"/>
          <a:lstStyle/>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Run Control pane → RVE Options</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 Show Results in RVE</a:t>
            </a:r>
            <a:endParaRPr lang="en-US" sz="1150" dirty="0"/>
          </a:p>
          <a:p>
            <a:pPr marL="342900" indent="-342900">
              <a:spcAft>
                <a:spcPts val="500"/>
              </a:spcAft>
              <a:buSzPct val="100000"/>
              <a:buChar char="•"/>
            </a:pPr>
            <a:r>
              <a:rPr lang="en-US" sz="1150" dirty="0">
                <a:solidFill>
                  <a:srgbClr val="1A2B3C"/>
                </a:solidFill>
                <a:latin typeface="Calibri" pitchFamily="34" charset="0"/>
                <a:ea typeface="Calibri" pitchFamily="34" charset="-122"/>
                <a:cs typeface="Calibri" pitchFamily="34" charset="-120"/>
              </a:rPr>
              <a:t>✅ Start RVE as soon as results are available</a:t>
            </a:r>
            <a:endParaRPr lang="en-US" sz="1150" dirty="0"/>
          </a:p>
        </p:txBody>
      </p:sp>
      <p:sp>
        <p:nvSpPr>
          <p:cNvPr id="11" name="Text 9"/>
          <p:cNvSpPr/>
          <p:nvPr/>
        </p:nvSpPr>
        <p:spPr>
          <a:xfrm>
            <a:off x="320040" y="3017520"/>
            <a:ext cx="502920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RVE Interface — Key Panels:</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3383280"/>
          <a:ext cx="8503920" cy="1554480"/>
        </p:xfrm>
        <a:graphic>
          <a:graphicData uri="http://schemas.openxmlformats.org/drawingml/2006/table">
            <a:tbl>
              <a:tblPr/>
              <a:tblGrid>
                <a:gridCol w="4251960"/>
                <a:gridCol w="425196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Panel</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shows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Check / Cell Summary Tree</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All rule checks and cells with violations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Results List (top right)</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Numbered list of violations for selected check</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Results Details (bottom right)</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Geometric coordinates of selected violation</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Rule Check Comments (bottom bar)</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Author's notes explaining the check</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A896"/>
          </a:solidFill>
          <a:ln w="12700">
            <a:solidFill>
              <a:srgbClr val="00A896"/>
            </a:solidFill>
            <a:prstDash val="solid"/>
          </a:ln>
        </p:spPr>
      </p:sp>
      <p:sp>
        <p:nvSpPr>
          <p:cNvPr id="3" name="Text 1"/>
          <p:cNvSpPr/>
          <p:nvPr/>
        </p:nvSpPr>
        <p:spPr>
          <a:xfrm>
            <a:off x="411480" y="1371600"/>
            <a:ext cx="8321040" cy="457200"/>
          </a:xfrm>
          <a:prstGeom prst="rect">
            <a:avLst/>
          </a:prstGeom>
          <a:noFill/>
          <a:ln/>
        </p:spPr>
        <p:txBody>
          <a:bodyPr wrap="square" rtlCol="0" anchor="ctr"/>
          <a:lstStyle/>
          <a:p>
            <a:pPr algn="l" indent="0" marL="0">
              <a:buNone/>
            </a:pPr>
            <a:r>
              <a:rPr lang="en-US" sz="1300" b="1" spc="400" kern="0" dirty="0">
                <a:solidFill>
                  <a:srgbClr val="00A896"/>
                </a:solidFill>
                <a:latin typeface="Calibri" pitchFamily="34" charset="0"/>
                <a:ea typeface="Calibri" pitchFamily="34" charset="-122"/>
                <a:cs typeface="Calibri" pitchFamily="34" charset="-120"/>
              </a:rPr>
              <a:t>PART 03</a:t>
            </a:r>
            <a:endParaRPr lang="en-US" sz="1300" dirty="0"/>
          </a:p>
        </p:txBody>
      </p:sp>
      <p:sp>
        <p:nvSpPr>
          <p:cNvPr id="4" name="Text 2"/>
          <p:cNvSpPr/>
          <p:nvPr/>
        </p:nvSpPr>
        <p:spPr>
          <a:xfrm>
            <a:off x="411480" y="1920240"/>
            <a:ext cx="8321040" cy="1463040"/>
          </a:xfrm>
          <a:prstGeom prst="rect">
            <a:avLst/>
          </a:prstGeom>
          <a:noFill/>
          <a:ln/>
        </p:spPr>
        <p:txBody>
          <a:bodyPr wrap="square"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Common DRC RVE Tasks</a:t>
            </a:r>
            <a:endParaRPr lang="en-US"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Modify RVE Check/Cell Tree Display</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Text 2"/>
          <p:cNvSpPr/>
          <p:nvPr/>
        </p:nvSpPr>
        <p:spPr>
          <a:xfrm>
            <a:off x="320040" y="914400"/>
            <a:ext cx="8503920" cy="347472"/>
          </a:xfrm>
          <a:prstGeom prst="rect">
            <a:avLst/>
          </a:prstGeom>
          <a:noFill/>
          <a:ln/>
        </p:spPr>
        <p:txBody>
          <a:bodyPr wrap="square" rtlCol="0" anchor="ctr"/>
          <a:lstStyle/>
          <a:p>
            <a:pPr indent="0" marL="0">
              <a:buNone/>
            </a:pPr>
            <a:r>
              <a:rPr lang="en-US" sz="1300" i="1" dirty="0">
                <a:solidFill>
                  <a:srgbClr val="1A2B3C"/>
                </a:solidFill>
                <a:latin typeface="Calibri" pitchFamily="34" charset="0"/>
                <a:ea typeface="Calibri" pitchFamily="34" charset="-122"/>
                <a:cs typeface="Calibri" pitchFamily="34" charset="-120"/>
              </a:rPr>
              <a:t>Go to:  View → Tree Options → Group By</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325880"/>
          <a:ext cx="8503920" cy="1920240"/>
        </p:xfrm>
        <a:graphic>
          <a:graphicData uri="http://schemas.openxmlformats.org/drawingml/2006/table">
            <a:tbl>
              <a:tblPr/>
              <a:tblGrid>
                <a:gridCol w="2834640"/>
                <a:gridCol w="2834640"/>
                <a:gridCol w="28346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Group By Option</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Tree Structure</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Best Used When...</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r>
              <a:tr h="384048">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Check / Cell  (default)</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Rule checks → expand to see cells</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Fixing one rule at a time across all cells</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84048">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Cell / Check</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Cells → expand to see failed checks</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Fixing all issues inside one cell at a time</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84048">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Rule checks only — no cell breakdown</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Quick count of violations per rule</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84048">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Cell</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Cells only — no check breakdown</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Quick count of violations per cell</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bl>
          </a:graphicData>
        </a:graphic>
      </p:graphicFrame>
      <p:sp>
        <p:nvSpPr>
          <p:cNvPr id="6" name="Shape 3"/>
          <p:cNvSpPr/>
          <p:nvPr/>
        </p:nvSpPr>
        <p:spPr>
          <a:xfrm>
            <a:off x="320040" y="3337560"/>
            <a:ext cx="3931920" cy="1554480"/>
          </a:xfrm>
          <a:prstGeom prst="roundRect">
            <a:avLst>
              <a:gd name="adj" fmla="val 5882"/>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7" name="Text 4"/>
          <p:cNvSpPr/>
          <p:nvPr/>
        </p:nvSpPr>
        <p:spPr>
          <a:xfrm>
            <a:off x="502920" y="3429000"/>
            <a:ext cx="3566160" cy="32004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Cell / Check view example:</a:t>
            </a:r>
            <a:endParaRPr lang="en-US" sz="1100" dirty="0"/>
          </a:p>
        </p:txBody>
      </p:sp>
      <p:sp>
        <p:nvSpPr>
          <p:cNvPr id="8" name="Shape 5"/>
          <p:cNvSpPr/>
          <p:nvPr/>
        </p:nvSpPr>
        <p:spPr>
          <a:xfrm>
            <a:off x="320040" y="3794760"/>
            <a:ext cx="3931920" cy="1005840"/>
          </a:xfrm>
          <a:prstGeom prst="roundRect">
            <a:avLst>
              <a:gd name="adj" fmla="val 7273"/>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9" name="Text 6"/>
          <p:cNvSpPr/>
          <p:nvPr/>
        </p:nvSpPr>
        <p:spPr>
          <a:xfrm>
            <a:off x="429768" y="3886200"/>
            <a:ext cx="3712464" cy="82296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 Cell lab2            Results: 4</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 Check min_spacing_metal1  3</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 Check min_spacing_metal2  1</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Cell a2311           Results: 3</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Cell a1230           Results: 1</a:t>
            </a:r>
            <a:endParaRPr lang="en-US" sz="1050" dirty="0"/>
          </a:p>
        </p:txBody>
      </p:sp>
      <p:sp>
        <p:nvSpPr>
          <p:cNvPr id="10" name="Shape 7"/>
          <p:cNvSpPr/>
          <p:nvPr/>
        </p:nvSpPr>
        <p:spPr>
          <a:xfrm>
            <a:off x="4434840" y="3337560"/>
            <a:ext cx="4709160" cy="1554480"/>
          </a:xfrm>
          <a:prstGeom prst="roundRect">
            <a:avLst>
              <a:gd name="adj" fmla="val 5882"/>
            </a:avLst>
          </a:prstGeom>
          <a:solidFill>
            <a:srgbClr val="FFF8E1"/>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1" name="Text 8"/>
          <p:cNvSpPr/>
          <p:nvPr/>
        </p:nvSpPr>
        <p:spPr>
          <a:xfrm>
            <a:off x="4617720" y="3429000"/>
            <a:ext cx="4343400" cy="347472"/>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Sorting &amp; Other Options</a:t>
            </a:r>
            <a:endParaRPr lang="en-US" sz="1100" dirty="0"/>
          </a:p>
        </p:txBody>
      </p:sp>
      <p:sp>
        <p:nvSpPr>
          <p:cNvPr id="12" name="Text 9"/>
          <p:cNvSpPr/>
          <p:nvPr/>
        </p:nvSpPr>
        <p:spPr>
          <a:xfrm>
            <a:off x="4617720" y="3840480"/>
            <a:ext cx="4343400" cy="914400"/>
          </a:xfrm>
          <a:prstGeom prst="rect">
            <a:avLst/>
          </a:prstGeom>
          <a:noFill/>
          <a:ln/>
        </p:spPr>
        <p:txBody>
          <a:bodyPr wrap="square" rtlCol="0" anchor="t"/>
          <a:lstStyle/>
          <a:p>
            <a:pPr marL="342900" indent="-342900">
              <a:spcAft>
                <a:spcPts val="500"/>
              </a:spcAft>
              <a:buSzPct val="100000"/>
              <a:buChar char="•"/>
            </a:pPr>
            <a:r>
              <a:rPr lang="en-US" sz="1100" dirty="0">
                <a:solidFill>
                  <a:srgbClr val="1A2B3C"/>
                </a:solidFill>
                <a:latin typeface="Calibri" pitchFamily="34" charset="0"/>
                <a:ea typeface="Calibri" pitchFamily="34" charset="-122"/>
                <a:cs typeface="Calibri" pitchFamily="34" charset="-120"/>
              </a:rPr>
              <a:t>Click any column heading to sort by that column — sort Results ↓ to see worst offenders first</a:t>
            </a:r>
            <a:endParaRPr lang="en-US" sz="1100" dirty="0"/>
          </a:p>
          <a:p>
            <a:pPr marL="342900" indent="-342900">
              <a:spcAft>
                <a:spcPts val="500"/>
              </a:spcAft>
              <a:buSzPct val="100000"/>
              <a:buChar char="•"/>
            </a:pPr>
            <a:r>
              <a:rPr lang="en-US" sz="1100" dirty="0">
                <a:solidFill>
                  <a:srgbClr val="1A2B3C"/>
                </a:solidFill>
                <a:latin typeface="Calibri" pitchFamily="34" charset="0"/>
                <a:ea typeface="Calibri" pitchFamily="34" charset="-122"/>
                <a:cs typeface="Calibri" pitchFamily="34" charset="-120"/>
              </a:rPr>
              <a:t>Show Empty Checks — display checks with zero violations</a:t>
            </a:r>
            <a:endParaRPr lang="en-US" sz="1100" dirty="0"/>
          </a:p>
          <a:p>
            <a:pPr marL="342900" indent="-342900">
              <a:spcAft>
                <a:spcPts val="500"/>
              </a:spcAft>
              <a:buSzPct val="100000"/>
              <a:buChar char="•"/>
            </a:pPr>
            <a:r>
              <a:rPr lang="en-US" sz="1100" dirty="0">
                <a:solidFill>
                  <a:srgbClr val="1A2B3C"/>
                </a:solidFill>
                <a:latin typeface="Calibri" pitchFamily="34" charset="0"/>
                <a:ea typeface="Calibri" pitchFamily="34" charset="-122"/>
                <a:cs typeface="Calibri" pitchFamily="34" charset="-120"/>
              </a:rPr>
              <a:t>Show Branch Prefix — show full hierarchical cell path</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Cross-Probe DRC Results to Layout Viewer</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5029200" cy="3840480"/>
          </a:xfrm>
          <a:prstGeom prst="roundRect">
            <a:avLst>
              <a:gd name="adj" fmla="val 2381"/>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46634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Step-by-step cross-probing:</a:t>
            </a:r>
            <a:endParaRPr lang="en-US" sz="1200" dirty="0"/>
          </a:p>
        </p:txBody>
      </p:sp>
      <p:sp>
        <p:nvSpPr>
          <p:cNvPr id="6" name="Text 4"/>
          <p:cNvSpPr/>
          <p:nvPr/>
        </p:nvSpPr>
        <p:spPr>
          <a:xfrm>
            <a:off x="502920" y="1417320"/>
            <a:ext cx="4663440" cy="315468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Select a rule check from the Check / Cell tree that has errors (e.g. Check active_CO)</a:t>
            </a:r>
            <a:endParaRPr lang="en-US" sz="1200" dirty="0"/>
          </a:p>
          <a:p>
            <a:pPr marL="342900" indent="-342900">
              <a:spcAft>
                <a:spcPts val="8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Click the highlight icon in the RVE toolbar and choose a highlighting mode</a:t>
            </a:r>
            <a:endParaRPr lang="en-US" sz="1200" dirty="0"/>
          </a:p>
          <a:p>
            <a:pPr marL="342900" indent="-342900">
              <a:spcAft>
                <a:spcPts val="8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Double-click an error number in the Results List — the layout viewer instantly zooms to that location and highlights the violation in red</a:t>
            </a:r>
            <a:endParaRPr lang="en-US" sz="1200" dirty="0"/>
          </a:p>
          <a:p>
            <a:pPr marL="342900" indent="-342900">
              <a:spcAft>
                <a:spcPts val="8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Read the Rule Check Comments at the bottom of RVE — the rule author explains what is being checked and often gives fix hints</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577840" y="914400"/>
          <a:ext cx="3246120" cy="1828800"/>
        </p:xfrm>
        <a:graphic>
          <a:graphicData uri="http://schemas.openxmlformats.org/drawingml/2006/table">
            <a:tbl>
              <a:tblPr/>
              <a:tblGrid>
                <a:gridCol w="1623060"/>
                <a:gridCol w="16230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Highlighting Option</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r>
              <a:tr h="365760">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No View Change</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Highlight but do not move the layout view</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65760">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Pan to Highlights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Pan layout view to show the error</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65760">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Zoom to Highlights ★</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Zoom in to the error — RECOMMENDED</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65760">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Clear Existing Highlights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Remove all current highlights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bl>
          </a:graphicData>
        </a:graphic>
      </p:graphicFrame>
      <p:sp>
        <p:nvSpPr>
          <p:cNvPr id="8" name="Shape 5"/>
          <p:cNvSpPr/>
          <p:nvPr/>
        </p:nvSpPr>
        <p:spPr>
          <a:xfrm>
            <a:off x="5577840" y="2880360"/>
            <a:ext cx="3246120" cy="1828800"/>
          </a:xfrm>
          <a:prstGeom prst="roundRect">
            <a:avLst>
              <a:gd name="adj" fmla="val 5000"/>
            </a:avLst>
          </a:prstGeom>
          <a:solidFill>
            <a:srgbClr val="E0F7F5"/>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9" name="Text 6"/>
          <p:cNvSpPr/>
          <p:nvPr/>
        </p:nvSpPr>
        <p:spPr>
          <a:xfrm>
            <a:off x="5760720" y="2971800"/>
            <a:ext cx="2880360" cy="32004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 Workflow Tip</a:t>
            </a:r>
            <a:endParaRPr lang="en-US" sz="1100" dirty="0"/>
          </a:p>
        </p:txBody>
      </p:sp>
      <p:sp>
        <p:nvSpPr>
          <p:cNvPr id="10" name="Text 7"/>
          <p:cNvSpPr/>
          <p:nvPr/>
        </p:nvSpPr>
        <p:spPr>
          <a:xfrm>
            <a:off x="5760720" y="3337560"/>
            <a:ext cx="2880360" cy="12344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Use 'Zoom to Highlights' as your default. After fixing an error in the layout editor, come back to RVE, right-click the error, and mark it Fixed to track your progress.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Displaying Errors in a Hierarchical Design</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914400"/>
          <a:ext cx="8503920" cy="1645920"/>
        </p:xfrm>
        <a:graphic>
          <a:graphicData uri="http://schemas.openxmlformats.org/drawingml/2006/table">
            <a:tbl>
              <a:tblPr/>
              <a:tblGrid>
                <a:gridCol w="2834640"/>
                <a:gridCol w="2834640"/>
                <a:gridCol w="28346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Error coordinates in RVE</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Layout viewer behavior</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0A896"/>
                    </a:solidFill>
                  </a:tcPr>
                </a:tc>
              </a:tr>
              <a:tr h="502920">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Cell space OFF</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Top cell coordinate system</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Error marker appears in top-level view — may need to zoom in</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502920">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Cell space ON ✅ (default)</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Local cell coordinate system</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200" dirty="0">
                          <a:solidFill>
                            <a:srgbClr val="1A2B3C"/>
                          </a:solidFill>
                          <a:latin typeface="Calibri" pitchFamily="34" charset="0"/>
                          <a:ea typeface="Calibri" pitchFamily="34" charset="-122"/>
                          <a:cs typeface="Calibri" pitchFamily="34" charset="-120"/>
                        </a:rPr>
                        <a:t>RVE opens the cell and zooms directly to the error inside it</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bl>
          </a:graphicData>
        </a:graphic>
      </p:graphicFrame>
      <p:sp>
        <p:nvSpPr>
          <p:cNvPr id="5" name="Shape 2"/>
          <p:cNvSpPr/>
          <p:nvPr/>
        </p:nvSpPr>
        <p:spPr>
          <a:xfrm>
            <a:off x="320040" y="2743200"/>
            <a:ext cx="4114800" cy="1371600"/>
          </a:xfrm>
          <a:prstGeom prst="roundRect">
            <a:avLst>
              <a:gd name="adj" fmla="val 666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6" name="Text 3"/>
          <p:cNvSpPr/>
          <p:nvPr/>
        </p:nvSpPr>
        <p:spPr>
          <a:xfrm>
            <a:off x="502920" y="2834640"/>
            <a:ext cx="37490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Enable in GUI — Outputs pane:</a:t>
            </a:r>
            <a:endParaRPr lang="en-US" sz="1200" dirty="0"/>
          </a:p>
        </p:txBody>
      </p:sp>
      <p:sp>
        <p:nvSpPr>
          <p:cNvPr id="7" name="Text 4"/>
          <p:cNvSpPr/>
          <p:nvPr/>
        </p:nvSpPr>
        <p:spPr>
          <a:xfrm>
            <a:off x="502920" y="3200400"/>
            <a:ext cx="3749040" cy="82296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Outputs pane → check ✅  Output cell errors in cell space</a:t>
            </a:r>
            <a:endParaRPr lang="en-US" sz="1100" dirty="0"/>
          </a:p>
          <a:p>
            <a:pPr indent="0" marL="0">
              <a:buNone/>
            </a:pP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This is the DEFAULT setting in the Calibre Interactive GUI. It is the recommended setting for all hierarchical designs.</a:t>
            </a:r>
            <a:endParaRPr lang="en-US" sz="1100" dirty="0"/>
          </a:p>
        </p:txBody>
      </p:sp>
      <p:sp>
        <p:nvSpPr>
          <p:cNvPr id="8" name="Shape 5"/>
          <p:cNvSpPr/>
          <p:nvPr/>
        </p:nvSpPr>
        <p:spPr>
          <a:xfrm>
            <a:off x="4663440" y="2743200"/>
            <a:ext cx="4160520" cy="2286000"/>
          </a:xfrm>
          <a:prstGeom prst="roundRect">
            <a:avLst>
              <a:gd name="adj" fmla="val 4000"/>
            </a:avLst>
          </a:prstGeom>
          <a:solidFill>
            <a:srgbClr val="FFF0F0"/>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9" name="Text 6"/>
          <p:cNvSpPr/>
          <p:nvPr/>
        </p:nvSpPr>
        <p:spPr>
          <a:xfrm>
            <a:off x="4846320" y="2834640"/>
            <a:ext cx="3794760" cy="347472"/>
          </a:xfrm>
          <a:prstGeom prst="rect">
            <a:avLst/>
          </a:prstGeom>
          <a:noFill/>
          <a:ln/>
        </p:spPr>
        <p:txBody>
          <a:bodyPr wrap="square" rtlCol="0" anchor="ctr"/>
          <a:lstStyle/>
          <a:p>
            <a:pPr indent="0" marL="0">
              <a:buNone/>
            </a:pPr>
            <a:r>
              <a:rPr lang="en-US" sz="1200" b="1" dirty="0">
                <a:solidFill>
                  <a:srgbClr val="E03C31"/>
                </a:solidFill>
                <a:latin typeface="Calibri" pitchFamily="34" charset="0"/>
                <a:ea typeface="Calibri" pitchFamily="34" charset="-122"/>
                <a:cs typeface="Calibri" pitchFamily="34" charset="-120"/>
              </a:rPr>
              <a:t>⚠️  What If Error Is Still at Top Level?</a:t>
            </a:r>
            <a:endParaRPr lang="en-US" sz="1200" dirty="0"/>
          </a:p>
        </p:txBody>
      </p:sp>
      <p:sp>
        <p:nvSpPr>
          <p:cNvPr id="10" name="Text 7"/>
          <p:cNvSpPr/>
          <p:nvPr/>
        </p:nvSpPr>
        <p:spPr>
          <a:xfrm>
            <a:off x="4846320" y="3246120"/>
            <a:ext cx="3794760" cy="91440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Calibre may expand (flatten) certain cells internally for performance. When a cell is expanded, its violations are reported at the parent level, not inside the cell.</a:t>
            </a:r>
            <a:endParaRPr lang="en-US" sz="1100" dirty="0"/>
          </a:p>
          <a:p>
            <a:pPr indent="0" marL="0">
              <a:buNone/>
            </a:pPr>
            <a:endParaRPr lang="en-US" sz="1100" dirty="0"/>
          </a:p>
          <a:p>
            <a:pPr indent="0" marL="0">
              <a:buNone/>
            </a:pPr>
            <a:r>
              <a:rPr lang="en-US" sz="1100" dirty="0">
                <a:solidFill>
                  <a:srgbClr val="1A2B3C"/>
                </a:solidFill>
                <a:latin typeface="Calibri" pitchFamily="34" charset="0"/>
                <a:ea typeface="Calibri" pitchFamily="34" charset="-122"/>
                <a:cs typeface="Calibri" pitchFamily="34" charset="-120"/>
              </a:rPr>
              <a:t>Check the Transcript for EXPANDING lines to see if your cell was flattened:</a:t>
            </a:r>
            <a:endParaRPr lang="en-US" sz="1100" dirty="0"/>
          </a:p>
        </p:txBody>
      </p:sp>
      <p:sp>
        <p:nvSpPr>
          <p:cNvPr id="11" name="Shape 8"/>
          <p:cNvSpPr/>
          <p:nvPr/>
        </p:nvSpPr>
        <p:spPr>
          <a:xfrm>
            <a:off x="4663440" y="4206240"/>
            <a:ext cx="4160520" cy="502920"/>
          </a:xfrm>
          <a:prstGeom prst="roundRect">
            <a:avLst>
              <a:gd name="adj" fmla="val 14545"/>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2" name="Text 9"/>
          <p:cNvSpPr/>
          <p:nvPr/>
        </p:nvSpPr>
        <p:spPr>
          <a:xfrm>
            <a:off x="4773168" y="4297680"/>
            <a:ext cx="3941064" cy="32004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a1720 in lab1 at (308.25, 355)  ← expanded!</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Set DRC Result Display Format</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Text 2"/>
          <p:cNvSpPr/>
          <p:nvPr/>
        </p:nvSpPr>
        <p:spPr>
          <a:xfrm>
            <a:off x="320040" y="914400"/>
            <a:ext cx="8503920" cy="347472"/>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Click the icon in the upper right of the Results List to switch display mode:</a:t>
            </a:r>
            <a:endParaRPr lang="en-US" sz="1300" dirty="0"/>
          </a:p>
        </p:txBody>
      </p:sp>
      <p:sp>
        <p:nvSpPr>
          <p:cNvPr id="5" name="Shape 3"/>
          <p:cNvSpPr/>
          <p:nvPr/>
        </p:nvSpPr>
        <p:spPr>
          <a:xfrm>
            <a:off x="320040" y="1417320"/>
            <a:ext cx="2743200" cy="3474720"/>
          </a:xfrm>
          <a:prstGeom prst="roundRect">
            <a:avLst>
              <a:gd name="adj" fmla="val 3333"/>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457200" y="1508760"/>
            <a:ext cx="2468880" cy="365760"/>
          </a:xfrm>
          <a:prstGeom prst="rect">
            <a:avLst/>
          </a:prstGeom>
          <a:noFill/>
          <a:ln/>
        </p:spPr>
        <p:txBody>
          <a:bodyPr wrap="square" rtlCol="0" anchor="ctr"/>
          <a:lstStyle/>
          <a:p>
            <a:pPr algn="ctr" indent="0" marL="0">
              <a:buNone/>
            </a:pPr>
            <a:r>
              <a:rPr lang="en-US" sz="1400" b="1" dirty="0">
                <a:solidFill>
                  <a:srgbClr val="00A896"/>
                </a:solidFill>
                <a:latin typeface="Cambria" pitchFamily="34" charset="0"/>
                <a:ea typeface="Cambria" pitchFamily="34" charset="-122"/>
                <a:cs typeface="Cambria" pitchFamily="34" charset="-120"/>
              </a:rPr>
              <a:t>List View</a:t>
            </a:r>
            <a:endParaRPr lang="en-US" sz="1400" dirty="0"/>
          </a:p>
        </p:txBody>
      </p:sp>
      <p:sp>
        <p:nvSpPr>
          <p:cNvPr id="7" name="Shape 5"/>
          <p:cNvSpPr/>
          <p:nvPr/>
        </p:nvSpPr>
        <p:spPr>
          <a:xfrm>
            <a:off x="411480" y="1920240"/>
            <a:ext cx="2560320" cy="502920"/>
          </a:xfrm>
          <a:prstGeom prst="roundRect">
            <a:avLst>
              <a:gd name="adj" fmla="val 14545"/>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21208" y="2011680"/>
            <a:ext cx="2340864" cy="32004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1   2   3</a:t>
            </a:r>
            <a:endParaRPr lang="en-US" sz="1050" dirty="0"/>
          </a:p>
        </p:txBody>
      </p:sp>
      <p:sp>
        <p:nvSpPr>
          <p:cNvPr id="9" name="Text 7"/>
          <p:cNvSpPr/>
          <p:nvPr/>
        </p:nvSpPr>
        <p:spPr>
          <a:xfrm>
            <a:off x="457200" y="2697480"/>
            <a:ext cx="2468880" cy="109728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Plain numbered list. Compact, good for many results.</a:t>
            </a:r>
            <a:endParaRPr lang="en-US" sz="1100" dirty="0"/>
          </a:p>
        </p:txBody>
      </p:sp>
      <p:sp>
        <p:nvSpPr>
          <p:cNvPr id="10" name="Shape 8"/>
          <p:cNvSpPr/>
          <p:nvPr/>
        </p:nvSpPr>
        <p:spPr>
          <a:xfrm>
            <a:off x="3200400" y="1417320"/>
            <a:ext cx="2743200" cy="3474720"/>
          </a:xfrm>
          <a:prstGeom prst="roundRect">
            <a:avLst>
              <a:gd name="adj" fmla="val 3333"/>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3337560" y="1508760"/>
            <a:ext cx="2468880" cy="365760"/>
          </a:xfrm>
          <a:prstGeom prst="rect">
            <a:avLst/>
          </a:prstGeom>
          <a:noFill/>
          <a:ln/>
        </p:spPr>
        <p:txBody>
          <a:bodyPr wrap="square" rtlCol="0" anchor="ctr"/>
          <a:lstStyle/>
          <a:p>
            <a:pPr algn="ctr" indent="0" marL="0">
              <a:buNone/>
            </a:pPr>
            <a:r>
              <a:rPr lang="en-US" sz="1400" b="1" dirty="0">
                <a:solidFill>
                  <a:srgbClr val="00A896"/>
                </a:solidFill>
                <a:latin typeface="Cambria" pitchFamily="34" charset="0"/>
                <a:ea typeface="Cambria" pitchFamily="34" charset="-122"/>
                <a:cs typeface="Cambria" pitchFamily="34" charset="-120"/>
              </a:rPr>
              <a:t>Icons View</a:t>
            </a:r>
            <a:endParaRPr lang="en-US" sz="1400" dirty="0"/>
          </a:p>
        </p:txBody>
      </p:sp>
      <p:sp>
        <p:nvSpPr>
          <p:cNvPr id="12" name="Shape 10"/>
          <p:cNvSpPr/>
          <p:nvPr/>
        </p:nvSpPr>
        <p:spPr>
          <a:xfrm>
            <a:off x="3291840" y="1920240"/>
            <a:ext cx="2560320" cy="502920"/>
          </a:xfrm>
          <a:prstGeom prst="roundRect">
            <a:avLst>
              <a:gd name="adj" fmla="val 14545"/>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3401568" y="2011680"/>
            <a:ext cx="2340864" cy="32004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✗1  ✗2  ✗3</a:t>
            </a:r>
            <a:endParaRPr lang="en-US" sz="1050" dirty="0"/>
          </a:p>
        </p:txBody>
      </p:sp>
      <p:sp>
        <p:nvSpPr>
          <p:cNvPr id="14" name="Text 12"/>
          <p:cNvSpPr/>
          <p:nvPr/>
        </p:nvSpPr>
        <p:spPr>
          <a:xfrm>
            <a:off x="3337560" y="2697480"/>
            <a:ext cx="2468880" cy="109728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Numbers with status icons showing fix/waive state.</a:t>
            </a:r>
            <a:endParaRPr lang="en-US" sz="1100" dirty="0"/>
          </a:p>
        </p:txBody>
      </p:sp>
      <p:sp>
        <p:nvSpPr>
          <p:cNvPr id="15" name="Shape 13"/>
          <p:cNvSpPr/>
          <p:nvPr/>
        </p:nvSpPr>
        <p:spPr>
          <a:xfrm>
            <a:off x="6080760" y="1417320"/>
            <a:ext cx="2743200" cy="3474720"/>
          </a:xfrm>
          <a:prstGeom prst="roundRect">
            <a:avLst>
              <a:gd name="adj" fmla="val 3333"/>
            </a:avLst>
          </a:prstGeom>
          <a:solidFill>
            <a:srgbClr val="EDF9F7"/>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6217920" y="1508760"/>
            <a:ext cx="2468880" cy="365760"/>
          </a:xfrm>
          <a:prstGeom prst="rect">
            <a:avLst/>
          </a:prstGeom>
          <a:noFill/>
          <a:ln/>
        </p:spPr>
        <p:txBody>
          <a:bodyPr wrap="square" rtlCol="0" anchor="ctr"/>
          <a:lstStyle/>
          <a:p>
            <a:pPr algn="ctr" indent="0" marL="0">
              <a:buNone/>
            </a:pPr>
            <a:r>
              <a:rPr lang="en-US" sz="1400" b="1" dirty="0">
                <a:solidFill>
                  <a:srgbClr val="00A896"/>
                </a:solidFill>
                <a:latin typeface="Cambria" pitchFamily="34" charset="0"/>
                <a:ea typeface="Cambria" pitchFamily="34" charset="-122"/>
                <a:cs typeface="Cambria" pitchFamily="34" charset="-120"/>
              </a:rPr>
              <a:t>Details View</a:t>
            </a:r>
            <a:endParaRPr lang="en-US" sz="1400" dirty="0"/>
          </a:p>
        </p:txBody>
      </p:sp>
      <p:sp>
        <p:nvSpPr>
          <p:cNvPr id="17" name="Shape 15"/>
          <p:cNvSpPr/>
          <p:nvPr/>
        </p:nvSpPr>
        <p:spPr>
          <a:xfrm>
            <a:off x="6172200" y="1920240"/>
            <a:ext cx="2560320" cy="685800"/>
          </a:xfrm>
          <a:prstGeom prst="roundRect">
            <a:avLst>
              <a:gd name="adj" fmla="val 10667"/>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6281928" y="2011680"/>
            <a:ext cx="2340864" cy="50292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ID | Flat | #EC | #EL | #EW | Vertices</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1  |  1   | 4.0 | 4.9 | 0.2 |    4</a:t>
            </a:r>
            <a:endParaRPr lang="en-US" sz="1050" dirty="0"/>
          </a:p>
        </p:txBody>
      </p:sp>
      <p:sp>
        <p:nvSpPr>
          <p:cNvPr id="19" name="Text 17"/>
          <p:cNvSpPr/>
          <p:nvPr/>
        </p:nvSpPr>
        <p:spPr>
          <a:xfrm>
            <a:off x="6217920" y="2697480"/>
            <a:ext cx="2468880" cy="109728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Full table with ID, coordinates, vertex count. Best for geometric analysis.</a:t>
            </a:r>
            <a:endParaRPr lang="en-US" sz="1100" dirty="0"/>
          </a:p>
        </p:txBody>
      </p:sp>
      <p:sp>
        <p:nvSpPr>
          <p:cNvPr id="20" name="Shape 18"/>
          <p:cNvSpPr/>
          <p:nvPr/>
        </p:nvSpPr>
        <p:spPr>
          <a:xfrm>
            <a:off x="320040" y="4663440"/>
            <a:ext cx="8503920" cy="347472"/>
          </a:xfrm>
          <a:prstGeom prst="roundRect">
            <a:avLst>
              <a:gd name="adj" fmla="val 26316"/>
            </a:avLst>
          </a:prstGeom>
          <a:solidFill>
            <a:srgbClr val="FFF8E1"/>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502920" y="4727448"/>
            <a:ext cx="8138160" cy="256032"/>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  The toolbar icon updates to reflect the currently selected mode. The Details view column #EC = error x-centroid, #EL = y-centroid, #EW = error width.</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Set DRC Result Status</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2743200" cy="2286000"/>
          </a:xfrm>
          <a:prstGeom prst="roundRect">
            <a:avLst>
              <a:gd name="adj" fmla="val 4000"/>
            </a:avLst>
          </a:prstGeom>
          <a:solidFill>
            <a:srgbClr val="FFF0F0"/>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1325880" y="1005840"/>
            <a:ext cx="731520" cy="731520"/>
          </a:xfrm>
          <a:prstGeom prst="ellipse">
            <a:avLst/>
          </a:prstGeom>
          <a:solidFill>
            <a:srgbClr val="FFF0F0"/>
          </a:solidFill>
          <a:ln w="25400">
            <a:solidFill>
              <a:srgbClr val="E03C31"/>
            </a:solidFill>
            <a:prstDash val="solid"/>
          </a:ln>
        </p:spPr>
      </p:sp>
      <p:sp>
        <p:nvSpPr>
          <p:cNvPr id="6" name="Text 4"/>
          <p:cNvSpPr/>
          <p:nvPr/>
        </p:nvSpPr>
        <p:spPr>
          <a:xfrm>
            <a:off x="1325880" y="1005840"/>
            <a:ext cx="731520" cy="731520"/>
          </a:xfrm>
          <a:prstGeom prst="rect">
            <a:avLst/>
          </a:prstGeom>
          <a:noFill/>
          <a:ln/>
        </p:spPr>
        <p:txBody>
          <a:bodyPr wrap="square" rtlCol="0" anchor="ctr"/>
          <a:lstStyle/>
          <a:p>
            <a:pPr algn="ctr" indent="0" marL="0">
              <a:buNone/>
            </a:pPr>
            <a:r>
              <a:rPr lang="en-US" sz="2200" b="1" dirty="0">
                <a:solidFill>
                  <a:srgbClr val="E03C31"/>
                </a:solidFill>
              </a:rPr>
              <a:t>✗</a:t>
            </a:r>
            <a:endParaRPr lang="en-US" sz="2200" dirty="0"/>
          </a:p>
        </p:txBody>
      </p:sp>
      <p:sp>
        <p:nvSpPr>
          <p:cNvPr id="7" name="Text 5"/>
          <p:cNvSpPr/>
          <p:nvPr/>
        </p:nvSpPr>
        <p:spPr>
          <a:xfrm>
            <a:off x="457200" y="1874520"/>
            <a:ext cx="2468880" cy="365760"/>
          </a:xfrm>
          <a:prstGeom prst="rect">
            <a:avLst/>
          </a:prstGeom>
          <a:noFill/>
          <a:ln/>
        </p:spPr>
        <p:txBody>
          <a:bodyPr wrap="square" rtlCol="0" anchor="ctr"/>
          <a:lstStyle/>
          <a:p>
            <a:pPr algn="ctr" indent="0" marL="0">
              <a:buNone/>
            </a:pPr>
            <a:r>
              <a:rPr lang="en-US" sz="1400" b="1" dirty="0">
                <a:solidFill>
                  <a:srgbClr val="E03C31"/>
                </a:solidFill>
                <a:latin typeface="Cambria" pitchFamily="34" charset="0"/>
                <a:ea typeface="Cambria" pitchFamily="34" charset="-122"/>
                <a:cs typeface="Cambria" pitchFamily="34" charset="-120"/>
              </a:rPr>
              <a:t>Not Fixed</a:t>
            </a:r>
            <a:endParaRPr lang="en-US" sz="1400" dirty="0"/>
          </a:p>
        </p:txBody>
      </p:sp>
      <p:sp>
        <p:nvSpPr>
          <p:cNvPr id="8" name="Text 6"/>
          <p:cNvSpPr/>
          <p:nvPr/>
        </p:nvSpPr>
        <p:spPr>
          <a:xfrm>
            <a:off x="457200" y="2286000"/>
            <a:ext cx="246888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Default. Violation has not been addressed. Appears in red.</a:t>
            </a:r>
            <a:endParaRPr lang="en-US" sz="1100" dirty="0"/>
          </a:p>
        </p:txBody>
      </p:sp>
      <p:sp>
        <p:nvSpPr>
          <p:cNvPr id="9" name="Shape 7"/>
          <p:cNvSpPr/>
          <p:nvPr/>
        </p:nvSpPr>
        <p:spPr>
          <a:xfrm>
            <a:off x="3200400" y="914400"/>
            <a:ext cx="2743200" cy="2286000"/>
          </a:xfrm>
          <a:prstGeom prst="roundRect">
            <a:avLst>
              <a:gd name="adj" fmla="val 4000"/>
            </a:avLst>
          </a:prstGeom>
          <a:solidFill>
            <a:srgbClr val="F0FFF4"/>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0" name="Shape 8"/>
          <p:cNvSpPr/>
          <p:nvPr/>
        </p:nvSpPr>
        <p:spPr>
          <a:xfrm>
            <a:off x="4206240" y="1005840"/>
            <a:ext cx="731520" cy="731520"/>
          </a:xfrm>
          <a:prstGeom prst="ellipse">
            <a:avLst/>
          </a:prstGeom>
          <a:solidFill>
            <a:srgbClr val="F0FFF4"/>
          </a:solidFill>
          <a:ln w="25400">
            <a:solidFill>
              <a:srgbClr val="27AE60"/>
            </a:solidFill>
            <a:prstDash val="solid"/>
          </a:ln>
        </p:spPr>
      </p:sp>
      <p:sp>
        <p:nvSpPr>
          <p:cNvPr id="11" name="Text 9"/>
          <p:cNvSpPr/>
          <p:nvPr/>
        </p:nvSpPr>
        <p:spPr>
          <a:xfrm>
            <a:off x="4206240" y="1005840"/>
            <a:ext cx="731520" cy="731520"/>
          </a:xfrm>
          <a:prstGeom prst="rect">
            <a:avLst/>
          </a:prstGeom>
          <a:noFill/>
          <a:ln/>
        </p:spPr>
        <p:txBody>
          <a:bodyPr wrap="square" rtlCol="0" anchor="ctr"/>
          <a:lstStyle/>
          <a:p>
            <a:pPr algn="ctr" indent="0" marL="0">
              <a:buNone/>
            </a:pPr>
            <a:r>
              <a:rPr lang="en-US" sz="2200" b="1" dirty="0">
                <a:solidFill>
                  <a:srgbClr val="27AE60"/>
                </a:solidFill>
              </a:rPr>
              <a:t>✓</a:t>
            </a:r>
            <a:endParaRPr lang="en-US" sz="2200" dirty="0"/>
          </a:p>
        </p:txBody>
      </p:sp>
      <p:sp>
        <p:nvSpPr>
          <p:cNvPr id="12" name="Text 10"/>
          <p:cNvSpPr/>
          <p:nvPr/>
        </p:nvSpPr>
        <p:spPr>
          <a:xfrm>
            <a:off x="3337560" y="1874520"/>
            <a:ext cx="2468880" cy="365760"/>
          </a:xfrm>
          <a:prstGeom prst="rect">
            <a:avLst/>
          </a:prstGeom>
          <a:noFill/>
          <a:ln/>
        </p:spPr>
        <p:txBody>
          <a:bodyPr wrap="square" rtlCol="0" anchor="ctr"/>
          <a:lstStyle/>
          <a:p>
            <a:pPr algn="ctr" indent="0" marL="0">
              <a:buNone/>
            </a:pPr>
            <a:r>
              <a:rPr lang="en-US" sz="1400" b="1" dirty="0">
                <a:solidFill>
                  <a:srgbClr val="27AE60"/>
                </a:solidFill>
                <a:latin typeface="Cambria" pitchFamily="34" charset="0"/>
                <a:ea typeface="Cambria" pitchFamily="34" charset="-122"/>
                <a:cs typeface="Cambria" pitchFamily="34" charset="-120"/>
              </a:rPr>
              <a:t>Fixed</a:t>
            </a:r>
            <a:endParaRPr lang="en-US" sz="1400" dirty="0"/>
          </a:p>
        </p:txBody>
      </p:sp>
      <p:sp>
        <p:nvSpPr>
          <p:cNvPr id="13" name="Text 11"/>
          <p:cNvSpPr/>
          <p:nvPr/>
        </p:nvSpPr>
        <p:spPr>
          <a:xfrm>
            <a:off x="3337560" y="2286000"/>
            <a:ext cx="246888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Layout has been edited to correct this violation. Appears in green.</a:t>
            </a:r>
            <a:endParaRPr lang="en-US" sz="1100" dirty="0"/>
          </a:p>
        </p:txBody>
      </p:sp>
      <p:sp>
        <p:nvSpPr>
          <p:cNvPr id="14" name="Shape 12"/>
          <p:cNvSpPr/>
          <p:nvPr/>
        </p:nvSpPr>
        <p:spPr>
          <a:xfrm>
            <a:off x="6080760" y="914400"/>
            <a:ext cx="2743200" cy="2286000"/>
          </a:xfrm>
          <a:prstGeom prst="roundRect">
            <a:avLst>
              <a:gd name="adj" fmla="val 4000"/>
            </a:avLst>
          </a:prstGeom>
          <a:solidFill>
            <a:srgbClr val="F5F5F5"/>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7086600" y="1005840"/>
            <a:ext cx="731520" cy="731520"/>
          </a:xfrm>
          <a:prstGeom prst="ellipse">
            <a:avLst/>
          </a:prstGeom>
          <a:solidFill>
            <a:srgbClr val="F5F5F5"/>
          </a:solidFill>
          <a:ln w="25400">
            <a:solidFill>
              <a:srgbClr val="AAAAAA"/>
            </a:solidFill>
            <a:prstDash val="solid"/>
          </a:ln>
        </p:spPr>
      </p:sp>
      <p:sp>
        <p:nvSpPr>
          <p:cNvPr id="16" name="Text 14"/>
          <p:cNvSpPr/>
          <p:nvPr/>
        </p:nvSpPr>
        <p:spPr>
          <a:xfrm>
            <a:off x="7086600" y="1005840"/>
            <a:ext cx="731520" cy="731520"/>
          </a:xfrm>
          <a:prstGeom prst="rect">
            <a:avLst/>
          </a:prstGeom>
          <a:noFill/>
          <a:ln/>
        </p:spPr>
        <p:txBody>
          <a:bodyPr wrap="square" rtlCol="0" anchor="ctr"/>
          <a:lstStyle/>
          <a:p>
            <a:pPr algn="ctr" indent="0" marL="0">
              <a:buNone/>
            </a:pPr>
            <a:r>
              <a:rPr lang="en-US" sz="2200" b="1" dirty="0">
                <a:solidFill>
                  <a:srgbClr val="AAAAAA"/>
                </a:solidFill>
              </a:rPr>
              <a:t>◌</a:t>
            </a:r>
            <a:endParaRPr lang="en-US" sz="2200" dirty="0"/>
          </a:p>
        </p:txBody>
      </p:sp>
      <p:sp>
        <p:nvSpPr>
          <p:cNvPr id="17" name="Text 15"/>
          <p:cNvSpPr/>
          <p:nvPr/>
        </p:nvSpPr>
        <p:spPr>
          <a:xfrm>
            <a:off x="6217920" y="1874520"/>
            <a:ext cx="2468880" cy="365760"/>
          </a:xfrm>
          <a:prstGeom prst="rect">
            <a:avLst/>
          </a:prstGeom>
          <a:noFill/>
          <a:ln/>
        </p:spPr>
        <p:txBody>
          <a:bodyPr wrap="square" rtlCol="0" anchor="ctr"/>
          <a:lstStyle/>
          <a:p>
            <a:pPr algn="ctr" indent="0" marL="0">
              <a:buNone/>
            </a:pPr>
            <a:r>
              <a:rPr lang="en-US" sz="1400" b="1" dirty="0">
                <a:solidFill>
                  <a:srgbClr val="AAAAAA"/>
                </a:solidFill>
                <a:latin typeface="Cambria" pitchFamily="34" charset="0"/>
                <a:ea typeface="Cambria" pitchFamily="34" charset="-122"/>
                <a:cs typeface="Cambria" pitchFamily="34" charset="-120"/>
              </a:rPr>
              <a:t>Waived</a:t>
            </a:r>
            <a:endParaRPr lang="en-US" sz="1400" dirty="0"/>
          </a:p>
        </p:txBody>
      </p:sp>
      <p:sp>
        <p:nvSpPr>
          <p:cNvPr id="18" name="Text 16"/>
          <p:cNvSpPr/>
          <p:nvPr/>
        </p:nvSpPr>
        <p:spPr>
          <a:xfrm>
            <a:off x="6217920" y="2286000"/>
            <a:ext cx="2468880" cy="777240"/>
          </a:xfrm>
          <a:prstGeom prst="rect">
            <a:avLst/>
          </a:prstGeom>
          <a:noFill/>
          <a:ln/>
        </p:spPr>
        <p:txBody>
          <a:bodyPr wrap="square" rtlCol="0" anchor="ctr"/>
          <a:lstStyle/>
          <a:p>
            <a:pPr algn="ctr" indent="0" marL="0">
              <a:buNone/>
            </a:pPr>
            <a:r>
              <a:rPr lang="en-US" sz="1100" dirty="0">
                <a:solidFill>
                  <a:srgbClr val="1A2B3C"/>
                </a:solidFill>
                <a:latin typeface="Calibri" pitchFamily="34" charset="0"/>
                <a:ea typeface="Calibri" pitchFamily="34" charset="-122"/>
                <a:cs typeface="Calibri" pitchFamily="34" charset="-120"/>
              </a:rPr>
              <a:t>Violation intentionally accepted (pre-approved exception). Appears dimmed/gray.</a:t>
            </a:r>
            <a:endParaRPr lang="en-US" sz="1100" dirty="0"/>
          </a:p>
        </p:txBody>
      </p:sp>
      <p:sp>
        <p:nvSpPr>
          <p:cNvPr id="19" name="Shape 17"/>
          <p:cNvSpPr/>
          <p:nvPr/>
        </p:nvSpPr>
        <p:spPr>
          <a:xfrm>
            <a:off x="320040" y="3337560"/>
            <a:ext cx="4114800" cy="1600200"/>
          </a:xfrm>
          <a:prstGeom prst="roundRect">
            <a:avLst>
              <a:gd name="adj" fmla="val 5714"/>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502920" y="3429000"/>
            <a:ext cx="37490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How to set status:</a:t>
            </a:r>
            <a:endParaRPr lang="en-US" sz="1200" dirty="0"/>
          </a:p>
        </p:txBody>
      </p:sp>
      <p:sp>
        <p:nvSpPr>
          <p:cNvPr id="21" name="Text 19"/>
          <p:cNvSpPr/>
          <p:nvPr/>
        </p:nvSpPr>
        <p:spPr>
          <a:xfrm>
            <a:off x="502920" y="3822192"/>
            <a:ext cx="3749040" cy="91440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Right-click one or more results in the Results List</a:t>
            </a:r>
            <a:endParaRPr lang="en-US" sz="1200" dirty="0"/>
          </a:p>
          <a:p>
            <a:pPr marL="342900" indent="-342900">
              <a:spcAft>
                <a:spcPts val="600"/>
              </a:spcAft>
              <a:buSzPct val="100000"/>
              <a:buFont typeface="+mj-lt"/>
              <a:buAutoNum type="arabicPeriod" startAt="1"/>
            </a:pPr>
            <a:r>
              <a:rPr lang="en-US" sz="1200" dirty="0">
                <a:solidFill>
                  <a:srgbClr val="1A2B3C"/>
                </a:solidFill>
                <a:latin typeface="Calibri" pitchFamily="34" charset="0"/>
                <a:ea typeface="Calibri" pitchFamily="34" charset="-122"/>
                <a:cs typeface="Calibri" pitchFamily="34" charset="-120"/>
              </a:rPr>
              <a:t>Choose Fix, Waive → Waive, or turn both off to return to Not Fixed</a:t>
            </a:r>
            <a:endParaRPr lang="en-US" sz="1200" dirty="0"/>
          </a:p>
        </p:txBody>
      </p:sp>
      <p:sp>
        <p:nvSpPr>
          <p:cNvPr id="22" name="Shape 20"/>
          <p:cNvSpPr/>
          <p:nvPr/>
        </p:nvSpPr>
        <p:spPr>
          <a:xfrm>
            <a:off x="4663440" y="3337560"/>
            <a:ext cx="4160520" cy="1600200"/>
          </a:xfrm>
          <a:prstGeom prst="roundRect">
            <a:avLst>
              <a:gd name="adj" fmla="val 5714"/>
            </a:avLst>
          </a:prstGeom>
          <a:solidFill>
            <a:srgbClr val="FFF8E1"/>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23" name="Text 21"/>
          <p:cNvSpPr/>
          <p:nvPr/>
        </p:nvSpPr>
        <p:spPr>
          <a:xfrm>
            <a:off x="4846320" y="3429000"/>
            <a:ext cx="3794760" cy="320040"/>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Important behaviors:</a:t>
            </a:r>
            <a:endParaRPr lang="en-US" sz="1200" dirty="0"/>
          </a:p>
        </p:txBody>
      </p:sp>
      <p:sp>
        <p:nvSpPr>
          <p:cNvPr id="24" name="Text 22"/>
          <p:cNvSpPr/>
          <p:nvPr/>
        </p:nvSpPr>
        <p:spPr>
          <a:xfrm>
            <a:off x="4846320" y="3822192"/>
            <a:ext cx="3794760" cy="1005840"/>
          </a:xfrm>
          <a:prstGeom prst="rect">
            <a:avLst/>
          </a:prstGeom>
          <a:noFill/>
          <a:ln/>
        </p:spPr>
        <p:txBody>
          <a:bodyPr wrap="square" rtlCol="0" anchor="t"/>
          <a:lstStyle/>
          <a:p>
            <a:pPr marL="342900" indent="-342900">
              <a:spcAft>
                <a:spcPts val="600"/>
              </a:spcAft>
              <a:buSzPct val="100000"/>
              <a:buChar char="•"/>
            </a:pPr>
            <a:r>
              <a:rPr lang="en-US" sz="1150" dirty="0">
                <a:solidFill>
                  <a:srgbClr val="1A2B3C"/>
                </a:solidFill>
                <a:latin typeface="Calibri" pitchFamily="34" charset="0"/>
                <a:ea typeface="Calibri" pitchFamily="34" charset="-122"/>
                <a:cs typeface="Calibri" pitchFamily="34" charset="-120"/>
              </a:rPr>
              <a:t>Waived results persist — saved to &lt;result_file&gt;.waived, survives between runs</a:t>
            </a:r>
            <a:endParaRPr lang="en-US" sz="1150" dirty="0"/>
          </a:p>
          <a:p>
            <a:pPr marL="342900" indent="-342900">
              <a:spcAft>
                <a:spcPts val="600"/>
              </a:spcAft>
              <a:buSzPct val="100000"/>
              <a:buChar char="•"/>
            </a:pPr>
            <a:r>
              <a:rPr lang="en-US" sz="1150" dirty="0">
                <a:solidFill>
                  <a:srgbClr val="1A2B3C"/>
                </a:solidFill>
                <a:latin typeface="Calibri" pitchFamily="34" charset="0"/>
                <a:ea typeface="Calibri" pitchFamily="34" charset="-122"/>
                <a:cs typeface="Calibri" pitchFamily="34" charset="-120"/>
              </a:rPr>
              <a:t>Fixed results reset — cleared on each re-run (correct: must re-run to confirm the fix worked)</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Comment and View Waived Results</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sp>
        <p:nvSpPr>
          <p:cNvPr id="4" name="Shape 2"/>
          <p:cNvSpPr/>
          <p:nvPr/>
        </p:nvSpPr>
        <p:spPr>
          <a:xfrm>
            <a:off x="320040" y="914400"/>
            <a:ext cx="4114800" cy="2194560"/>
          </a:xfrm>
          <a:prstGeom prst="roundRect">
            <a:avLst>
              <a:gd name="adj" fmla="val 4167"/>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005840"/>
            <a:ext cx="374904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Enable waiver comments:</a:t>
            </a:r>
            <a:endParaRPr lang="en-US" sz="1200" dirty="0"/>
          </a:p>
        </p:txBody>
      </p:sp>
      <p:sp>
        <p:nvSpPr>
          <p:cNvPr id="6" name="Text 4"/>
          <p:cNvSpPr/>
          <p:nvPr/>
        </p:nvSpPr>
        <p:spPr>
          <a:xfrm>
            <a:off x="502920" y="1417320"/>
            <a:ext cx="3749040" cy="1508760"/>
          </a:xfrm>
          <a:prstGeom prst="rect">
            <a:avLst/>
          </a:prstGeom>
          <a:noFill/>
          <a:ln/>
        </p:spPr>
        <p:txBody>
          <a:bodyPr wrap="square" rtlCol="0" anchor="t"/>
          <a:lstStyle/>
          <a:p>
            <a:pPr marL="342900" indent="-342900">
              <a:spcAft>
                <a:spcPts val="5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Click the Setup gear icon in the RVE toolbar</a:t>
            </a:r>
            <a:endParaRPr lang="en-US" sz="1150" dirty="0"/>
          </a:p>
          <a:p>
            <a:pPr marL="342900" indent="-342900">
              <a:spcAft>
                <a:spcPts val="5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Go to the Waivers category</a:t>
            </a:r>
            <a:endParaRPr lang="en-US" sz="1150" dirty="0"/>
          </a:p>
          <a:p>
            <a:pPr marL="342900" indent="-342900">
              <a:spcAft>
                <a:spcPts val="5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Check "Show comment dialog while waiving results"</a:t>
            </a:r>
            <a:endParaRPr lang="en-US" sz="1150" dirty="0"/>
          </a:p>
          <a:p>
            <a:pPr marL="342900" indent="-342900">
              <a:spcAft>
                <a:spcPts val="500"/>
              </a:spcAft>
              <a:buSzPct val="100000"/>
              <a:buFont typeface="+mj-lt"/>
              <a:buAutoNum type="arabicPeriod" startAt="1"/>
            </a:pPr>
            <a:r>
              <a:rPr lang="en-US" sz="1150" dirty="0">
                <a:solidFill>
                  <a:srgbClr val="1A2B3C"/>
                </a:solidFill>
                <a:latin typeface="Calibri" pitchFamily="34" charset="0"/>
                <a:ea typeface="Calibri" pitchFamily="34" charset="-122"/>
                <a:cs typeface="Calibri" pitchFamily="34" charset="-120"/>
              </a:rPr>
              <a:t>Click Apply</a:t>
            </a:r>
            <a:endParaRPr lang="en-US" sz="1150" dirty="0"/>
          </a:p>
        </p:txBody>
      </p:sp>
      <p:sp>
        <p:nvSpPr>
          <p:cNvPr id="7" name="Shape 5"/>
          <p:cNvSpPr/>
          <p:nvPr/>
        </p:nvSpPr>
        <p:spPr>
          <a:xfrm>
            <a:off x="320040" y="3200400"/>
            <a:ext cx="4114800" cy="1828800"/>
          </a:xfrm>
          <a:prstGeom prst="roundRect">
            <a:avLst>
              <a:gd name="adj" fmla="val 4000"/>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29768" y="3291840"/>
            <a:ext cx="3895344" cy="164592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Waived Result Comment</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Waived by student on Thu Jun 01 08:24:17 PDT 2017</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This error waived per Ted Smith.</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  OK  ]     [ Cancel ]</a:t>
            </a:r>
            <a:endParaRPr lang="en-US" sz="1050" dirty="0"/>
          </a:p>
        </p:txBody>
      </p:sp>
      <p:sp>
        <p:nvSpPr>
          <p:cNvPr id="9" name="Shape 7"/>
          <p:cNvSpPr/>
          <p:nvPr/>
        </p:nvSpPr>
        <p:spPr>
          <a:xfrm>
            <a:off x="4663440" y="914400"/>
            <a:ext cx="4160520" cy="4114800"/>
          </a:xfrm>
          <a:prstGeom prst="roundRect">
            <a:avLst>
              <a:gd name="adj" fmla="val 2222"/>
            </a:avLst>
          </a:prstGeom>
          <a:solidFill>
            <a:srgbClr val="FFFFFF"/>
          </a:solidFill>
          <a:ln w="9525">
            <a:solidFill>
              <a:srgbClr val="D8E8EF"/>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4846320" y="1005840"/>
            <a:ext cx="3794760"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Three ways to view waiver comments:</a:t>
            </a:r>
            <a:endParaRPr lang="en-US" sz="1200" dirty="0"/>
          </a:p>
        </p:txBody>
      </p:sp>
      <p:sp>
        <p:nvSpPr>
          <p:cNvPr id="11" name="Shape 9"/>
          <p:cNvSpPr/>
          <p:nvPr/>
        </p:nvSpPr>
        <p:spPr>
          <a:xfrm>
            <a:off x="4846320" y="1463040"/>
            <a:ext cx="347472" cy="347472"/>
          </a:xfrm>
          <a:prstGeom prst="ellipse">
            <a:avLst/>
          </a:prstGeom>
          <a:solidFill>
            <a:srgbClr val="00A896"/>
          </a:solidFill>
          <a:ln w="12700">
            <a:solidFill>
              <a:srgbClr val="00A896"/>
            </a:solidFill>
            <a:prstDash val="solid"/>
          </a:ln>
        </p:spPr>
      </p:sp>
      <p:sp>
        <p:nvSpPr>
          <p:cNvPr id="12" name="Text 10"/>
          <p:cNvSpPr/>
          <p:nvPr/>
        </p:nvSpPr>
        <p:spPr>
          <a:xfrm>
            <a:off x="4846320" y="1463040"/>
            <a:ext cx="347472" cy="347472"/>
          </a:xfrm>
          <a:prstGeom prst="rect">
            <a:avLst/>
          </a:prstGeom>
          <a:noFill/>
          <a:ln/>
        </p:spPr>
        <p:txBody>
          <a:bodyPr wrap="square" rtlCol="0" anchor="ctr"/>
          <a:lstStyle/>
          <a:p>
            <a:pPr algn="ctr" indent="0" marL="0">
              <a:buNone/>
            </a:pPr>
            <a:r>
              <a:rPr lang="en-US" sz="1100" b="1" dirty="0">
                <a:solidFill>
                  <a:srgbClr val="FFFFFF"/>
                </a:solidFill>
              </a:rPr>
              <a:t>1</a:t>
            </a:r>
            <a:endParaRPr lang="en-US" sz="1100" dirty="0"/>
          </a:p>
        </p:txBody>
      </p:sp>
      <p:sp>
        <p:nvSpPr>
          <p:cNvPr id="13" name="Text 11"/>
          <p:cNvSpPr/>
          <p:nvPr/>
        </p:nvSpPr>
        <p:spPr>
          <a:xfrm>
            <a:off x="5321808" y="1463040"/>
            <a:ext cx="3364992" cy="347472"/>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Hover tooltip</a:t>
            </a:r>
            <a:endParaRPr lang="en-US" sz="1200" dirty="0"/>
          </a:p>
        </p:txBody>
      </p:sp>
      <p:sp>
        <p:nvSpPr>
          <p:cNvPr id="14" name="Text 12"/>
          <p:cNvSpPr/>
          <p:nvPr/>
        </p:nvSpPr>
        <p:spPr>
          <a:xfrm>
            <a:off x="5321808" y="1847088"/>
            <a:ext cx="3364992" cy="731520"/>
          </a:xfrm>
          <a:prstGeom prst="rect">
            <a:avLst/>
          </a:prstGeom>
          <a:noFill/>
          <a:ln/>
        </p:spPr>
        <p:txBody>
          <a:bodyPr wrap="square" rtlCol="0" anchor="ctr"/>
          <a:lstStyle/>
          <a:p>
            <a:pPr indent="0" marL="0">
              <a:buNone/>
            </a:pPr>
            <a:r>
              <a:rPr lang="en-US" sz="1100" dirty="0">
                <a:solidFill>
                  <a:srgbClr val="5C7A8A"/>
                </a:solidFill>
                <a:latin typeface="Calibri" pitchFamily="34" charset="0"/>
                <a:ea typeface="Calibri" pitchFamily="34" charset="-122"/>
                <a:cs typeface="Calibri" pitchFamily="34" charset="-120"/>
              </a:rPr>
              <a:t>Hover the mouse over a waived result (dimmed X) in the Results List. A tooltip pops up showing the comment text.</a:t>
            </a:r>
            <a:endParaRPr lang="en-US" sz="1100" dirty="0"/>
          </a:p>
        </p:txBody>
      </p:sp>
      <p:sp>
        <p:nvSpPr>
          <p:cNvPr id="15" name="Shape 13"/>
          <p:cNvSpPr/>
          <p:nvPr/>
        </p:nvSpPr>
        <p:spPr>
          <a:xfrm>
            <a:off x="4846320" y="2633472"/>
            <a:ext cx="347472" cy="347472"/>
          </a:xfrm>
          <a:prstGeom prst="ellipse">
            <a:avLst/>
          </a:prstGeom>
          <a:solidFill>
            <a:srgbClr val="00A896"/>
          </a:solidFill>
          <a:ln w="12700">
            <a:solidFill>
              <a:srgbClr val="00A896"/>
            </a:solidFill>
            <a:prstDash val="solid"/>
          </a:ln>
        </p:spPr>
      </p:sp>
      <p:sp>
        <p:nvSpPr>
          <p:cNvPr id="16" name="Text 14"/>
          <p:cNvSpPr/>
          <p:nvPr/>
        </p:nvSpPr>
        <p:spPr>
          <a:xfrm>
            <a:off x="4846320" y="2633472"/>
            <a:ext cx="347472" cy="347472"/>
          </a:xfrm>
          <a:prstGeom prst="rect">
            <a:avLst/>
          </a:prstGeom>
          <a:noFill/>
          <a:ln/>
        </p:spPr>
        <p:txBody>
          <a:bodyPr wrap="square" rtlCol="0" anchor="ctr"/>
          <a:lstStyle/>
          <a:p>
            <a:pPr algn="ctr" indent="0" marL="0">
              <a:buNone/>
            </a:pPr>
            <a:r>
              <a:rPr lang="en-US" sz="1100" b="1" dirty="0">
                <a:solidFill>
                  <a:srgbClr val="FFFFFF"/>
                </a:solidFill>
              </a:rPr>
              <a:t>2</a:t>
            </a:r>
            <a:endParaRPr lang="en-US" sz="1100" dirty="0"/>
          </a:p>
        </p:txBody>
      </p:sp>
      <p:sp>
        <p:nvSpPr>
          <p:cNvPr id="17" name="Text 15"/>
          <p:cNvSpPr/>
          <p:nvPr/>
        </p:nvSpPr>
        <p:spPr>
          <a:xfrm>
            <a:off x="5321808" y="2633472"/>
            <a:ext cx="3364992" cy="347472"/>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Open .waived file in RVE</a:t>
            </a:r>
            <a:endParaRPr lang="en-US" sz="1200" dirty="0"/>
          </a:p>
        </p:txBody>
      </p:sp>
      <p:sp>
        <p:nvSpPr>
          <p:cNvPr id="18" name="Text 16"/>
          <p:cNvSpPr/>
          <p:nvPr/>
        </p:nvSpPr>
        <p:spPr>
          <a:xfrm>
            <a:off x="5321808" y="3017520"/>
            <a:ext cx="3364992" cy="731520"/>
          </a:xfrm>
          <a:prstGeom prst="rect">
            <a:avLst/>
          </a:prstGeom>
          <a:noFill/>
          <a:ln/>
        </p:spPr>
        <p:txBody>
          <a:bodyPr wrap="square" rtlCol="0" anchor="ctr"/>
          <a:lstStyle/>
          <a:p>
            <a:pPr indent="0" marL="0">
              <a:buNone/>
            </a:pPr>
            <a:r>
              <a:rPr lang="en-US" sz="1100" dirty="0">
                <a:solidFill>
                  <a:srgbClr val="5C7A8A"/>
                </a:solidFill>
                <a:latin typeface="Calibri" pitchFamily="34" charset="0"/>
                <a:ea typeface="Calibri" pitchFamily="34" charset="-122"/>
                <a:cs typeface="Calibri" pitchFamily="34" charset="-120"/>
              </a:rPr>
              <a:t>File → Open Text File → select &lt;result&gt;.waived. Shows all waived errors with coordinates and comments.</a:t>
            </a:r>
            <a:endParaRPr lang="en-US" sz="1100" dirty="0"/>
          </a:p>
        </p:txBody>
      </p:sp>
      <p:sp>
        <p:nvSpPr>
          <p:cNvPr id="19" name="Shape 17"/>
          <p:cNvSpPr/>
          <p:nvPr/>
        </p:nvSpPr>
        <p:spPr>
          <a:xfrm>
            <a:off x="4846320" y="3803904"/>
            <a:ext cx="347472" cy="347472"/>
          </a:xfrm>
          <a:prstGeom prst="ellipse">
            <a:avLst/>
          </a:prstGeom>
          <a:solidFill>
            <a:srgbClr val="00A896"/>
          </a:solidFill>
          <a:ln w="12700">
            <a:solidFill>
              <a:srgbClr val="00A896"/>
            </a:solidFill>
            <a:prstDash val="solid"/>
          </a:ln>
        </p:spPr>
      </p:sp>
      <p:sp>
        <p:nvSpPr>
          <p:cNvPr id="20" name="Text 18"/>
          <p:cNvSpPr/>
          <p:nvPr/>
        </p:nvSpPr>
        <p:spPr>
          <a:xfrm>
            <a:off x="4846320" y="3803904"/>
            <a:ext cx="347472" cy="347472"/>
          </a:xfrm>
          <a:prstGeom prst="rect">
            <a:avLst/>
          </a:prstGeom>
          <a:noFill/>
          <a:ln/>
        </p:spPr>
        <p:txBody>
          <a:bodyPr wrap="square" rtlCol="0" anchor="ctr"/>
          <a:lstStyle/>
          <a:p>
            <a:pPr algn="ctr" indent="0" marL="0">
              <a:buNone/>
            </a:pPr>
            <a:r>
              <a:rPr lang="en-US" sz="1100" b="1" dirty="0">
                <a:solidFill>
                  <a:srgbClr val="FFFFFF"/>
                </a:solidFill>
              </a:rPr>
              <a:t>3</a:t>
            </a:r>
            <a:endParaRPr lang="en-US" sz="1100" dirty="0"/>
          </a:p>
        </p:txBody>
      </p:sp>
      <p:sp>
        <p:nvSpPr>
          <p:cNvPr id="21" name="Text 19"/>
          <p:cNvSpPr/>
          <p:nvPr/>
        </p:nvSpPr>
        <p:spPr>
          <a:xfrm>
            <a:off x="5321808" y="3803904"/>
            <a:ext cx="3364992" cy="347472"/>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Create ASCII Waiver Report</a:t>
            </a:r>
            <a:endParaRPr lang="en-US" sz="1200" dirty="0"/>
          </a:p>
        </p:txBody>
      </p:sp>
      <p:sp>
        <p:nvSpPr>
          <p:cNvPr id="22" name="Text 20"/>
          <p:cNvSpPr/>
          <p:nvPr/>
        </p:nvSpPr>
        <p:spPr>
          <a:xfrm>
            <a:off x="5321808" y="4187952"/>
            <a:ext cx="3364992" cy="731520"/>
          </a:xfrm>
          <a:prstGeom prst="rect">
            <a:avLst/>
          </a:prstGeom>
          <a:noFill/>
          <a:ln/>
        </p:spPr>
        <p:txBody>
          <a:bodyPr wrap="square" rtlCol="0" anchor="ctr"/>
          <a:lstStyle/>
          <a:p>
            <a:pPr indent="0" marL="0">
              <a:buNone/>
            </a:pPr>
            <a:r>
              <a:rPr lang="en-US" sz="1100" dirty="0">
                <a:solidFill>
                  <a:srgbClr val="5C7A8A"/>
                </a:solidFill>
                <a:latin typeface="Calibri" pitchFamily="34" charset="0"/>
                <a:ea typeface="Calibri" pitchFamily="34" charset="-122"/>
                <a:cs typeface="Calibri" pitchFamily="34" charset="-120"/>
              </a:rPr>
              <a:t>Tools → Create Waiver Report → save as .txt. Generates a clean summary for design review packages and tapeout checklists.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B"/>
        </a:solidFill>
      </p:bgPr>
    </p:bg>
    <p:spTree>
      <p:nvGrpSpPr>
        <p:cNvPr id="1" name=""/>
        <p:cNvGrpSpPr/>
        <p:nvPr/>
      </p:nvGrpSpPr>
      <p:grpSpPr>
        <a:xfrm>
          <a:off x="0" y="0"/>
          <a:ext cx="0" cy="0"/>
          <a:chOff x="0" y="0"/>
          <a:chExt cx="0" cy="0"/>
        </a:xfrm>
      </p:grpSpPr>
      <p:sp>
        <p:nvSpPr>
          <p:cNvPr id="2" name="Text 0"/>
          <p:cNvSpPr/>
          <p:nvPr/>
        </p:nvSpPr>
        <p:spPr>
          <a:xfrm>
            <a:off x="365760" y="201168"/>
            <a:ext cx="8412480" cy="502920"/>
          </a:xfrm>
          <a:prstGeom prst="rect">
            <a:avLst/>
          </a:prstGeom>
          <a:noFill/>
          <a:ln/>
        </p:spPr>
        <p:txBody>
          <a:bodyPr wrap="square" lIns="0" tIns="0" rIns="0" bIns="0" rtlCol="0" anchor="ctr"/>
          <a:lstStyle/>
          <a:p>
            <a:pPr algn="l" indent="0" marL="0">
              <a:buNone/>
            </a:pPr>
            <a:r>
              <a:rPr lang="en-US" sz="2200" b="1" dirty="0">
                <a:solidFill>
                  <a:srgbClr val="00A896"/>
                </a:solidFill>
                <a:latin typeface="Cambria" pitchFamily="34" charset="0"/>
                <a:ea typeface="Cambria" pitchFamily="34" charset="-122"/>
                <a:cs typeface="Cambria" pitchFamily="34" charset="-120"/>
              </a:rPr>
              <a:t>Chapter Summary</a:t>
            </a:r>
            <a:endParaRPr lang="en-US" sz="2200" dirty="0"/>
          </a:p>
        </p:txBody>
      </p:sp>
      <p:sp>
        <p:nvSpPr>
          <p:cNvPr id="3" name="Shape 1"/>
          <p:cNvSpPr/>
          <p:nvPr/>
        </p:nvSpPr>
        <p:spPr>
          <a:xfrm>
            <a:off x="365760" y="749808"/>
            <a:ext cx="8412480" cy="0"/>
          </a:xfrm>
          <a:prstGeom prst="line">
            <a:avLst/>
          </a:prstGeom>
          <a:noFill/>
          <a:ln w="19050">
            <a:solidFill>
              <a:srgbClr val="00A896"/>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20040" y="914400"/>
          <a:ext cx="8503920" cy="4023360"/>
        </p:xfrm>
        <a:graphic>
          <a:graphicData uri="http://schemas.openxmlformats.org/drawingml/2006/table">
            <a:tbl>
              <a:tblPr/>
              <a:tblGrid>
                <a:gridCol w="4251960"/>
                <a:gridCol w="4251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Takeaway</a:t>
                      </a:r>
                      <a:endParaRPr lang="en-US" sz="12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solidFill>
                      <a:srgbClr val="0B1F3A"/>
                    </a:solidFill>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nmDRC Process Flow</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Layout + Rule File → nmDRC engine → Results DB → RVE → Fix → repeat</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Two run methods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GUI (interactive) and SVRF runset file (command line / automation)</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INCLUDE</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SVRF command to load a rule file into the job</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LAYOUT PRIMARY / SYSTEM / PATH</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Set top cell name, file format, and layout file path</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DRC RESULTS DATABASE</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Set output results file name and format (ASCII or binary)</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DRC SUMMARY REPORT</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Set the optional human-readable text summary file name</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DRC MAXIMUM RESULTS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Limit violations stored per rule check (default 1000)</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Transcript</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Real-time run log — check for EXPANDING, warnings, result counts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DRC Summary Report</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Post-run overview — best place to see which rules failed and how many</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RVE</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Graphical error browser with layout cross-probing</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Cell space errors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Errors in local cell coordinates — default, recommended for hierarchical designs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r h="310896">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Result Status</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c>
                  <a:txBody>
                    <a:bodyPr/>
                    <a:lstStyle/>
                    <a:p>
                      <a:pPr indent="0" marL="0">
                        <a:buNone/>
                      </a:pPr>
                      <a:r>
                        <a:rPr lang="en-US" sz="1100" dirty="0">
                          <a:solidFill>
                            <a:srgbClr val="1A2B3C"/>
                          </a:solidFill>
                          <a:latin typeface="Calibri" pitchFamily="34" charset="0"/>
                          <a:ea typeface="Calibri" pitchFamily="34" charset="-122"/>
                          <a:cs typeface="Calibri" pitchFamily="34" charset="-120"/>
                        </a:rPr>
                        <a:t>Not Fixed (red) / Fixed (green) / Waived (gray); waived results saved to .waived file</a:t>
                      </a:r>
                      <a:endParaRPr lang="en-US" sz="1100" dirty="0">
                        <a:latin typeface="Calibri" charset="0"/>
                        <a:ea typeface="Calibri" charset="0"/>
                        <a:cs typeface="Calibri" charset="0"/>
                      </a:endParaRPr>
                    </a:p>
                  </a:txBody>
                  <a:tcPr marL="91440" marR="91440" marT="45720" marB="45720">
                    <a:lnL w="6350" cap="flat" cmpd="sng" algn="ctr">
                      <a:solidFill>
                        <a:srgbClr val="D8E8EF"/>
                      </a:solidFill>
                      <a:prstDash val="solid"/>
                      <a:round/>
                      <a:headEnd type="none" w="med" len="med"/>
                      <a:tailEnd type="none" w="med" len="med"/>
                    </a:lnL>
                    <a:lnR w="6350" cap="flat" cmpd="sng" algn="ctr">
                      <a:solidFill>
                        <a:srgbClr val="D8E8EF"/>
                      </a:solidFill>
                      <a:prstDash val="solid"/>
                      <a:round/>
                      <a:headEnd type="none" w="med" len="med"/>
                      <a:tailEnd type="none" w="med" len="med"/>
                    </a:lnR>
                    <a:lnT w="6350" cap="flat" cmpd="sng" algn="ctr">
                      <a:solidFill>
                        <a:srgbClr val="D8E8EF"/>
                      </a:solidFill>
                      <a:prstDash val="solid"/>
                      <a:round/>
                      <a:headEnd type="none" w="med" len="med"/>
                      <a:tailEnd type="none" w="med" len="med"/>
                    </a:lnT>
                    <a:lnB w="6350" cap="flat" cmpd="sng" algn="ctr">
                      <a:solidFill>
                        <a:srgbClr val="D8E8EF"/>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A896"/>
          </a:solidFill>
          <a:ln w="12700">
            <a:solidFill>
              <a:srgbClr val="00A896"/>
            </a:solidFill>
            <a:prstDash val="solid"/>
          </a:ln>
        </p:spPr>
      </p:sp>
      <p:sp>
        <p:nvSpPr>
          <p:cNvPr id="3" name="Text 1"/>
          <p:cNvSpPr/>
          <p:nvPr/>
        </p:nvSpPr>
        <p:spPr>
          <a:xfrm>
            <a:off x="411480" y="201168"/>
            <a:ext cx="8321040" cy="457200"/>
          </a:xfrm>
          <a:prstGeom prst="rect">
            <a:avLst/>
          </a:prstGeom>
          <a:noFill/>
          <a:ln/>
        </p:spPr>
        <p:txBody>
          <a:bodyPr wrap="square"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Quick Reference — Job Settings SVRF File</a:t>
            </a:r>
            <a:endParaRPr lang="en-US" sz="2200" dirty="0"/>
          </a:p>
        </p:txBody>
      </p:sp>
      <p:sp>
        <p:nvSpPr>
          <p:cNvPr id="4" name="Shape 2"/>
          <p:cNvSpPr/>
          <p:nvPr/>
        </p:nvSpPr>
        <p:spPr>
          <a:xfrm>
            <a:off x="320040" y="777240"/>
            <a:ext cx="8503920" cy="4160520"/>
          </a:xfrm>
          <a:prstGeom prst="roundRect">
            <a:avLst>
              <a:gd name="adj" fmla="val 1758"/>
            </a:avLst>
          </a:prstGeom>
          <a:solidFill>
            <a:srgbClr val="1B3A2F"/>
          </a:solidFill>
          <a:ln w="12700">
            <a:solidFill>
              <a:srgbClr val="00A896"/>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29768" y="868680"/>
            <a:ext cx="8284464" cy="3977640"/>
          </a:xfrm>
          <a:prstGeom prst="rect">
            <a:avLst/>
          </a:prstGeom>
          <a:noFill/>
          <a:ln/>
        </p:spPr>
        <p:txBody>
          <a:bodyPr wrap="square" rtlCol="0" anchor="t"/>
          <a:lstStyle/>
          <a:p>
            <a:pPr indent="0" marL="0">
              <a:buNone/>
            </a:pPr>
            <a:r>
              <a:rPr lang="en-US" sz="1050" dirty="0">
                <a:solidFill>
                  <a:srgbClr val="7DFFCF"/>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Job and User settings SVRF file</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Most basic setup file for DRC and LVS run</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Date: 12/1/2021</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a:t>
            </a:r>
            <a:endParaRPr lang="en-US" sz="1050" dirty="0"/>
          </a:p>
          <a:p>
            <a:pPr indent="0" marL="0">
              <a:buNone/>
            </a:pP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 INPUT SETTINGS ---</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PRIMARY lab1          // Top cell name in the layout</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SYSTEM GDSII          // Layout file format</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LAYOUT PATH "/home/student/work/lab1.gds"   // Path to layout</a:t>
            </a:r>
            <a:endParaRPr lang="en-US" sz="1050" dirty="0"/>
          </a:p>
          <a:p>
            <a:pPr indent="0" marL="0">
              <a:buNone/>
            </a:pP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 OUTPUT SETTINGS ---</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RESULTS DATABASE lab1.drc.results ASCII  // Violation data</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SUMMARY REPORT lab1.drc.summary          // Text summary</a:t>
            </a:r>
            <a:endParaRPr lang="en-US" sz="1050" dirty="0"/>
          </a:p>
          <a:p>
            <a:pPr indent="0" marL="0">
              <a:buNone/>
            </a:pP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 OPTIONS ---</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DRC MAXIMUM RESULTS 1000     // Max violations per rule check</a:t>
            </a:r>
            <a:endParaRPr lang="en-US" sz="1050" dirty="0"/>
          </a:p>
          <a:p>
            <a:pPr indent="0" marL="0">
              <a:buNone/>
            </a:pP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 --- RULE FILES ---</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INCLUDE "drc.rules"          // Main foundry rule file</a:t>
            </a:r>
            <a:endParaRPr lang="en-US" sz="1050" dirty="0"/>
          </a:p>
          <a:p>
            <a:pPr indent="0" marL="0">
              <a:buNone/>
            </a:pPr>
            <a:r>
              <a:rPr lang="en-US" sz="1050" dirty="0">
                <a:solidFill>
                  <a:srgbClr val="7DFFCF"/>
                </a:solidFill>
                <a:latin typeface="Courier New" pitchFamily="34" charset="0"/>
                <a:ea typeface="Courier New" pitchFamily="34" charset="-122"/>
                <a:cs typeface="Courier New" pitchFamily="34" charset="-120"/>
              </a:rPr>
              <a:t>INCLUDE "golden_rules"       // Additional rule file</a:t>
            </a:r>
            <a:endParaRPr lang="en-US" sz="1050" dirty="0"/>
          </a:p>
        </p:txBody>
      </p:sp>
      <p:sp>
        <p:nvSpPr>
          <p:cNvPr id="6" name="Text 4"/>
          <p:cNvSpPr/>
          <p:nvPr/>
        </p:nvSpPr>
        <p:spPr>
          <a:xfrm>
            <a:off x="411480" y="4754880"/>
            <a:ext cx="8321040" cy="274320"/>
          </a:xfrm>
          <a:prstGeom prst="rect">
            <a:avLst/>
          </a:prstGeom>
          <a:noFill/>
          <a:ln/>
        </p:spPr>
        <p:txBody>
          <a:bodyPr wrap="square" rtlCol="0" anchor="ctr"/>
          <a:lstStyle/>
          <a:p>
            <a:pPr indent="0" marL="0">
              <a:buNone/>
            </a:pPr>
            <a:r>
              <a:rPr lang="en-US" sz="1050" dirty="0">
                <a:solidFill>
                  <a:srgbClr val="00A896"/>
                </a:solidFill>
                <a:latin typeface="Calibri" pitchFamily="34" charset="0"/>
                <a:ea typeface="Calibri" pitchFamily="34" charset="-122"/>
                <a:cs typeface="Calibri" pitchFamily="34" charset="-120"/>
              </a:rPr>
              <a:t>💡  Save this as a template. Change only the layout path, top cell name, and output file names for each new project.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02 — Calibre nmDRC Basics</dc:title>
  <dc:subject>PptxGenJS Presentation</dc:subject>
  <dc:creator>Calibre DRC/LVS Mastery</dc:creator>
  <cp:lastModifiedBy>Calibre DRC/LVS Mastery</cp:lastModifiedBy>
  <cp:revision>1</cp:revision>
  <dcterms:created xsi:type="dcterms:W3CDTF">2026-06-13T17:35:38Z</dcterms:created>
  <dcterms:modified xsi:type="dcterms:W3CDTF">2026-06-13T17:35:38Z</dcterms:modified>
</cp:coreProperties>
</file>